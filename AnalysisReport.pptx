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iiVbGq35T63bDgbIDC3M5lzVAU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C56282-31AA-4F51-A3A7-92F948880A99}">
  <a:tblStyle styleId="{98C56282-31AA-4F51-A3A7-92F948880A9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8" name="Google Shape;26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tsikkodia" type="title">
  <p:cSld name="TITLE">
    <p:spTree>
      <p:nvGrpSpPr>
        <p:cNvPr id="11" name="Shape 11"/>
        <p:cNvGrpSpPr/>
        <p:nvPr/>
      </p:nvGrpSpPr>
      <p:grpSpPr>
        <a:xfrm>
          <a:off x="0" y="0"/>
          <a:ext cx="0" cy="0"/>
          <a:chOff x="0" y="0"/>
          <a:chExt cx="0" cy="0"/>
        </a:xfrm>
      </p:grpSpPr>
      <p:sp>
        <p:nvSpPr>
          <p:cNvPr id="12" name="Google Shape;12;p1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tsikko ja sisältö" type="obj">
  <p:cSld name="OBJECT">
    <p:spTree>
      <p:nvGrpSpPr>
        <p:cNvPr id="17" name="Shape 17"/>
        <p:cNvGrpSpPr/>
        <p:nvPr/>
      </p:nvGrpSpPr>
      <p:grpSpPr>
        <a:xfrm>
          <a:off x="0" y="0"/>
          <a:ext cx="0" cy="0"/>
          <a:chOff x="0" y="0"/>
          <a:chExt cx="0" cy="0"/>
        </a:xfrm>
      </p:grpSpPr>
      <p:sp>
        <p:nvSpPr>
          <p:cNvPr id="18" name="Google Shape;1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san ylätunniste" type="secHead">
  <p:cSld name="SECTION_HEADER">
    <p:spTree>
      <p:nvGrpSpPr>
        <p:cNvPr id="23" name="Shape 23"/>
        <p:cNvGrpSpPr/>
        <p:nvPr/>
      </p:nvGrpSpPr>
      <p:grpSpPr>
        <a:xfrm>
          <a:off x="0" y="0"/>
          <a:ext cx="0" cy="0"/>
          <a:chOff x="0" y="0"/>
          <a:chExt cx="0" cy="0"/>
        </a:xfrm>
      </p:grpSpPr>
      <p:sp>
        <p:nvSpPr>
          <p:cNvPr id="24" name="Google Shape;24;p1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ksi sisältökohdetta" type="twoObj">
  <p:cSld name="TWO_OBJECTS">
    <p:spTree>
      <p:nvGrpSpPr>
        <p:cNvPr id="29" name="Shape 29"/>
        <p:cNvGrpSpPr/>
        <p:nvPr/>
      </p:nvGrpSpPr>
      <p:grpSpPr>
        <a:xfrm>
          <a:off x="0" y="0"/>
          <a:ext cx="0" cy="0"/>
          <a:chOff x="0" y="0"/>
          <a:chExt cx="0" cy="0"/>
        </a:xfrm>
      </p:grpSpPr>
      <p:sp>
        <p:nvSpPr>
          <p:cNvPr id="30" name="Google Shape;3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ailu" type="twoTxTwoObj">
  <p:cSld name="TWO_OBJECTS_WITH_TEXT">
    <p:spTree>
      <p:nvGrpSpPr>
        <p:cNvPr id="36" name="Shape 36"/>
        <p:cNvGrpSpPr/>
        <p:nvPr/>
      </p:nvGrpSpPr>
      <p:grpSpPr>
        <a:xfrm>
          <a:off x="0" y="0"/>
          <a:ext cx="0" cy="0"/>
          <a:chOff x="0" y="0"/>
          <a:chExt cx="0" cy="0"/>
        </a:xfrm>
      </p:grpSpPr>
      <p:sp>
        <p:nvSpPr>
          <p:cNvPr id="37" name="Google Shape;37;p2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ain otsikko" type="titleOnly">
  <p:cSld name="TITLE_ONLY">
    <p:spTree>
      <p:nvGrpSpPr>
        <p:cNvPr id="45" name="Shape 45"/>
        <p:cNvGrpSpPr/>
        <p:nvPr/>
      </p:nvGrpSpPr>
      <p:grpSpPr>
        <a:xfrm>
          <a:off x="0" y="0"/>
          <a:ext cx="0" cy="0"/>
          <a:chOff x="0" y="0"/>
          <a:chExt cx="0" cy="0"/>
        </a:xfrm>
      </p:grpSpPr>
      <p:sp>
        <p:nvSpPr>
          <p:cNvPr id="46" name="Google Shape;4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yhjä" type="blank">
  <p:cSld name="BLANK">
    <p:spTree>
      <p:nvGrpSpPr>
        <p:cNvPr id="50" name="Shape 50"/>
        <p:cNvGrpSpPr/>
        <p:nvPr/>
      </p:nvGrpSpPr>
      <p:grpSpPr>
        <a:xfrm>
          <a:off x="0" y="0"/>
          <a:ext cx="0" cy="0"/>
          <a:chOff x="0" y="0"/>
          <a:chExt cx="0" cy="0"/>
        </a:xfrm>
      </p:grpSpPr>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uvatekstillinen sisältö"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uvatekstillinen kuva"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p:nvPr>
            <p:ph idx="2" type="pic"/>
          </p:nvPr>
        </p:nvSpPr>
        <p:spPr>
          <a:xfrm>
            <a:off x="5183188" y="987425"/>
            <a:ext cx="6172200" cy="4873625"/>
          </a:xfrm>
          <a:prstGeom prst="rect">
            <a:avLst/>
          </a:prstGeom>
          <a:noFill/>
          <a:ln>
            <a:noFill/>
          </a:ln>
        </p:spPr>
      </p:sp>
      <p:sp>
        <p:nvSpPr>
          <p:cNvPr id="64" name="Google Shape;6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tsikko ja pystysuora teksti"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ystysuora otsikko ja teksti"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1"/>
          <p:cNvSpPr/>
          <p:nvPr/>
        </p:nvSpPr>
        <p:spPr>
          <a:xfrm flipH="1" rot="10800000">
            <a:off x="0" y="0"/>
            <a:ext cx="12192000" cy="400685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 name="Google Shape;85;p1"/>
          <p:cNvSpPr txBox="1"/>
          <p:nvPr>
            <p:ph type="ctrTitle"/>
          </p:nvPr>
        </p:nvSpPr>
        <p:spPr>
          <a:xfrm>
            <a:off x="838200" y="914402"/>
            <a:ext cx="10515600" cy="265995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8000"/>
              <a:buFont typeface="Calibri"/>
              <a:buNone/>
            </a:pPr>
            <a:r>
              <a:rPr lang="en-US" sz="8000">
                <a:solidFill>
                  <a:srgbClr val="FFFFFF"/>
                </a:solidFill>
              </a:rPr>
              <a:t>Analysis reports for</a:t>
            </a:r>
            <a:endParaRPr sz="8000">
              <a:solidFill>
                <a:srgbClr val="FFFFFF"/>
              </a:solidFill>
            </a:endParaRPr>
          </a:p>
        </p:txBody>
      </p:sp>
      <p:sp>
        <p:nvSpPr>
          <p:cNvPr id="86" name="Google Shape;86;p1"/>
          <p:cNvSpPr txBox="1"/>
          <p:nvPr>
            <p:ph idx="1" type="subTitle"/>
          </p:nvPr>
        </p:nvSpPr>
        <p:spPr>
          <a:xfrm>
            <a:off x="838200" y="4368800"/>
            <a:ext cx="10515600" cy="1390650"/>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dk1"/>
              </a:buClr>
              <a:buSzPts val="3200"/>
              <a:buNone/>
            </a:pPr>
            <a:r>
              <a:rPr lang="en-US" sz="3200"/>
              <a:t>Shop satisfaction survey dataset</a:t>
            </a:r>
            <a:endParaRPr/>
          </a:p>
          <a:p>
            <a:pPr indent="0" lvl="0" marL="0" rtl="0" algn="ctr">
              <a:lnSpc>
                <a:spcPct val="90000"/>
              </a:lnSpc>
              <a:spcBef>
                <a:spcPts val="0"/>
              </a:spcBef>
              <a:spcAft>
                <a:spcPts val="0"/>
              </a:spcAft>
              <a:buClr>
                <a:schemeClr val="dk1"/>
              </a:buClr>
              <a:buSzPts val="3200"/>
              <a:buNone/>
            </a:pPr>
            <a:r>
              <a:rPr lang="en-US" sz="3200"/>
              <a:t>List clearly the names of the group members here who have participated in this assignment</a:t>
            </a:r>
            <a:endParaRPr sz="3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sp>
        <p:nvSpPr>
          <p:cNvPr id="91" name="Google Shape;91;p2"/>
          <p:cNvSpPr/>
          <p:nvPr/>
        </p:nvSpPr>
        <p:spPr>
          <a:xfrm>
            <a:off x="-1" y="0"/>
            <a:ext cx="5093209"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 name="Google Shape;92;p2"/>
          <p:cNvSpPr txBox="1"/>
          <p:nvPr>
            <p:ph type="title"/>
          </p:nvPr>
        </p:nvSpPr>
        <p:spPr>
          <a:xfrm>
            <a:off x="524751" y="620400"/>
            <a:ext cx="4101000" cy="5504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alibri"/>
              <a:buNone/>
            </a:pPr>
            <a:r>
              <a:rPr lang="en-US" sz="6000">
                <a:solidFill>
                  <a:schemeClr val="lt1"/>
                </a:solidFill>
              </a:rPr>
              <a:t>Background of the survey</a:t>
            </a:r>
            <a:endParaRPr sz="6000">
              <a:solidFill>
                <a:schemeClr val="lt1"/>
              </a:solidFill>
            </a:endParaRPr>
          </a:p>
        </p:txBody>
      </p:sp>
      <p:grpSp>
        <p:nvGrpSpPr>
          <p:cNvPr id="93" name="Google Shape;93;p2"/>
          <p:cNvGrpSpPr/>
          <p:nvPr/>
        </p:nvGrpSpPr>
        <p:grpSpPr>
          <a:xfrm>
            <a:off x="5468389" y="744083"/>
            <a:ext cx="6263640" cy="5257305"/>
            <a:chOff x="0" y="123691"/>
            <a:chExt cx="6263640" cy="5257305"/>
          </a:xfrm>
        </p:grpSpPr>
        <p:sp>
          <p:nvSpPr>
            <p:cNvPr id="94" name="Google Shape;94;p2"/>
            <p:cNvSpPr/>
            <p:nvPr/>
          </p:nvSpPr>
          <p:spPr>
            <a:xfrm>
              <a:off x="0" y="123691"/>
              <a:ext cx="6263640" cy="1275446"/>
            </a:xfrm>
            <a:prstGeom prst="roundRect">
              <a:avLst>
                <a:gd fmla="val 16667" name="adj"/>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
            <p:cNvSpPr txBox="1"/>
            <p:nvPr/>
          </p:nvSpPr>
          <p:spPr>
            <a:xfrm>
              <a:off x="62262" y="185953"/>
              <a:ext cx="6139116" cy="1150922"/>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The survey was conducted by interviewing 102 customers of our shop between 1.1.2022 and 14.1.2022 (These are imaginary!!!)</a:t>
              </a:r>
              <a:endParaRPr b="0" i="0" sz="1400" u="none" cap="none" strike="noStrike">
                <a:solidFill>
                  <a:srgbClr val="000000"/>
                </a:solidFill>
                <a:latin typeface="Arial"/>
                <a:ea typeface="Arial"/>
                <a:cs typeface="Arial"/>
                <a:sym typeface="Arial"/>
              </a:endParaRPr>
            </a:p>
          </p:txBody>
        </p:sp>
        <p:sp>
          <p:nvSpPr>
            <p:cNvPr id="96" name="Google Shape;96;p2"/>
            <p:cNvSpPr/>
            <p:nvPr/>
          </p:nvSpPr>
          <p:spPr>
            <a:xfrm>
              <a:off x="0" y="1450977"/>
              <a:ext cx="6263640" cy="1275446"/>
            </a:xfrm>
            <a:prstGeom prst="roundRect">
              <a:avLst>
                <a:gd fmla="val 16667" name="adj"/>
              </a:avLst>
            </a:prstGeom>
            <a:solidFill>
              <a:srgbClr val="50C9B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
            <p:cNvSpPr txBox="1"/>
            <p:nvPr/>
          </p:nvSpPr>
          <p:spPr>
            <a:xfrm>
              <a:off x="62262" y="1513239"/>
              <a:ext cx="6139116" cy="1150922"/>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We took every 100</a:t>
              </a:r>
              <a:r>
                <a:rPr b="0" baseline="30000" i="0" lang="en-US" sz="1800" u="none" cap="none" strike="noStrike">
                  <a:solidFill>
                    <a:schemeClr val="lt1"/>
                  </a:solidFill>
                  <a:latin typeface="Calibri"/>
                  <a:ea typeface="Calibri"/>
                  <a:cs typeface="Calibri"/>
                  <a:sym typeface="Calibri"/>
                </a:rPr>
                <a:t>th</a:t>
              </a:r>
              <a:r>
                <a:rPr b="0" i="0" lang="en-US" sz="1800" u="none" cap="none" strike="noStrike">
                  <a:solidFill>
                    <a:schemeClr val="lt1"/>
                  </a:solidFill>
                  <a:latin typeface="Calibri"/>
                  <a:ea typeface="Calibri"/>
                  <a:cs typeface="Calibri"/>
                  <a:sym typeface="Calibri"/>
                </a:rPr>
                <a:t> customer that entered our shop and did the survey in such a way that equal amount of customers were interview between 9 am – 12 am, 12 am – 3 pm, 3 pm - 6 pm and 6 pm – 9 pm</a:t>
              </a:r>
              <a:endParaRPr b="0" i="0" sz="1400" u="none" cap="none" strike="noStrike">
                <a:solidFill>
                  <a:srgbClr val="000000"/>
                </a:solidFill>
                <a:latin typeface="Arial"/>
                <a:ea typeface="Arial"/>
                <a:cs typeface="Arial"/>
                <a:sym typeface="Arial"/>
              </a:endParaRPr>
            </a:p>
          </p:txBody>
        </p:sp>
        <p:sp>
          <p:nvSpPr>
            <p:cNvPr id="98" name="Google Shape;98;p2"/>
            <p:cNvSpPr/>
            <p:nvPr/>
          </p:nvSpPr>
          <p:spPr>
            <a:xfrm>
              <a:off x="0" y="2778263"/>
              <a:ext cx="6263640" cy="1275446"/>
            </a:xfrm>
            <a:prstGeom prst="roundRect">
              <a:avLst>
                <a:gd fmla="val 16667" name="adj"/>
              </a:avLst>
            </a:prstGeom>
            <a:solidFill>
              <a:srgbClr val="48BD6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
            <p:cNvSpPr txBox="1"/>
            <p:nvPr/>
          </p:nvSpPr>
          <p:spPr>
            <a:xfrm>
              <a:off x="62262" y="2840525"/>
              <a:ext cx="6139116" cy="1150922"/>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All the participants got movie tickets for their effort</a:t>
              </a:r>
              <a:endParaRPr b="0" i="0" sz="1400" u="none" cap="none" strike="noStrike">
                <a:solidFill>
                  <a:srgbClr val="000000"/>
                </a:solidFill>
                <a:latin typeface="Arial"/>
                <a:ea typeface="Arial"/>
                <a:cs typeface="Arial"/>
                <a:sym typeface="Arial"/>
              </a:endParaRPr>
            </a:p>
          </p:txBody>
        </p:sp>
        <p:sp>
          <p:nvSpPr>
            <p:cNvPr id="100" name="Google Shape;100;p2"/>
            <p:cNvSpPr/>
            <p:nvPr/>
          </p:nvSpPr>
          <p:spPr>
            <a:xfrm>
              <a:off x="0" y="4105550"/>
              <a:ext cx="6263640" cy="1275446"/>
            </a:xfrm>
            <a:prstGeom prst="roundRect">
              <a:avLst>
                <a:gd fmla="val 16667" name="adj"/>
              </a:avLst>
            </a:prstGeom>
            <a:solidFill>
              <a:srgbClr val="6FAB4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
            <p:cNvSpPr txBox="1"/>
            <p:nvPr/>
          </p:nvSpPr>
          <p:spPr>
            <a:xfrm>
              <a:off x="62262" y="4167812"/>
              <a:ext cx="6139116" cy="1150922"/>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 whatever other information would be needed, needs to be written down here…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 name="Shape 105"/>
        <p:cNvGrpSpPr/>
        <p:nvPr/>
      </p:nvGrpSpPr>
      <p:grpSpPr>
        <a:xfrm>
          <a:off x="0" y="0"/>
          <a:ext cx="0" cy="0"/>
          <a:chOff x="0" y="0"/>
          <a:chExt cx="0" cy="0"/>
        </a:xfrm>
      </p:grpSpPr>
      <p:sp>
        <p:nvSpPr>
          <p:cNvPr id="106" name="Google Shape;106;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 name="Google Shape;107;p3"/>
          <p:cNvSpPr txBox="1"/>
          <p:nvPr>
            <p:ph type="title"/>
          </p:nvPr>
        </p:nvSpPr>
        <p:spPr>
          <a:xfrm>
            <a:off x="643467" y="321734"/>
            <a:ext cx="10905066" cy="113573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solidFill>
                  <a:schemeClr val="dk1"/>
                </a:solidFill>
                <a:latin typeface="Calibri"/>
                <a:ea typeface="Calibri"/>
                <a:cs typeface="Calibri"/>
                <a:sym typeface="Calibri"/>
              </a:rPr>
              <a:t>Variables of the survey</a:t>
            </a:r>
            <a:endParaRPr/>
          </a:p>
        </p:txBody>
      </p:sp>
      <p:sp>
        <p:nvSpPr>
          <p:cNvPr id="108" name="Google Shape;108;p3"/>
          <p:cNvSpPr txBox="1"/>
          <p:nvPr/>
        </p:nvSpPr>
        <p:spPr>
          <a:xfrm>
            <a:off x="643469" y="1782981"/>
            <a:ext cx="4008384" cy="4393982"/>
          </a:xfrm>
          <a:prstGeom prst="rect">
            <a:avLst/>
          </a:prstGeom>
          <a:noFill/>
          <a:ln>
            <a:noFill/>
          </a:ln>
        </p:spPr>
        <p:txBody>
          <a:bodyPr anchorCtr="0" anchor="t" bIns="45700" lIns="91425" spcFirstLastPara="1" rIns="91425" wrap="square" tIns="45700">
            <a:normAutofit/>
          </a:bodyPr>
          <a:lstStyle/>
          <a:p>
            <a:pPr indent="-228600" lvl="0" marL="28575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Background variables 1-7</a:t>
            </a:r>
            <a:endParaRPr b="0" i="0" sz="1400" u="none" cap="none" strike="noStrike">
              <a:solidFill>
                <a:srgbClr val="000000"/>
              </a:solidFill>
              <a:latin typeface="Arial"/>
              <a:ea typeface="Arial"/>
              <a:cs typeface="Arial"/>
              <a:sym typeface="Arial"/>
            </a:endParaRPr>
          </a:p>
          <a:p>
            <a:pPr indent="-228600" lvl="0" marL="285750" marR="0" rtl="0" algn="l">
              <a:lnSpc>
                <a:spcPct val="90000"/>
              </a:lnSpc>
              <a:spcBef>
                <a:spcPts val="6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Variables of main interest 8-9 (Likert scale)</a:t>
            </a:r>
            <a:endParaRPr b="0" i="0" sz="1400" u="none" cap="none" strike="noStrike">
              <a:solidFill>
                <a:srgbClr val="000000"/>
              </a:solidFill>
              <a:latin typeface="Arial"/>
              <a:ea typeface="Arial"/>
              <a:cs typeface="Arial"/>
              <a:sym typeface="Arial"/>
            </a:endParaRPr>
          </a:p>
          <a:p>
            <a:pPr indent="-101600" lvl="0" marL="285750" marR="0" rtl="0" algn="l">
              <a:lnSpc>
                <a:spcPct val="90000"/>
              </a:lnSpc>
              <a:spcBef>
                <a:spcPts val="60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228600" lvl="0" marL="285750" marR="0" rtl="0" algn="l">
              <a:lnSpc>
                <a:spcPct val="90000"/>
              </a:lnSpc>
              <a:spcBef>
                <a:spcPts val="600"/>
              </a:spcBef>
              <a:spcAft>
                <a:spcPts val="0"/>
              </a:spcAft>
              <a:buClr>
                <a:schemeClr val="dk1"/>
              </a:buClr>
              <a:buSzPts val="2000"/>
              <a:buFont typeface="Arial"/>
              <a:buChar char="•"/>
            </a:pPr>
            <a:r>
              <a:rPr b="0" i="0" lang="en-US" sz="2000" u="none" cap="none" strike="noStrike">
                <a:solidFill>
                  <a:srgbClr val="FF0000"/>
                </a:solidFill>
                <a:latin typeface="Calibri"/>
                <a:ea typeface="Calibri"/>
                <a:cs typeface="Calibri"/>
                <a:sym typeface="Calibri"/>
              </a:rPr>
              <a:t>Note! This is not the data that you are analyzing!!</a:t>
            </a:r>
            <a:endParaRPr b="0" i="0" sz="1400" u="none" cap="none" strike="noStrike">
              <a:solidFill>
                <a:srgbClr val="FF0000"/>
              </a:solidFill>
              <a:latin typeface="Arial"/>
              <a:ea typeface="Arial"/>
              <a:cs typeface="Arial"/>
              <a:sym typeface="Arial"/>
            </a:endParaRPr>
          </a:p>
        </p:txBody>
      </p:sp>
      <p:grpSp>
        <p:nvGrpSpPr>
          <p:cNvPr id="109" name="Google Shape;109;p3"/>
          <p:cNvGrpSpPr/>
          <p:nvPr/>
        </p:nvGrpSpPr>
        <p:grpSpPr>
          <a:xfrm>
            <a:off x="0" y="4601497"/>
            <a:ext cx="1014060" cy="2017580"/>
            <a:chOff x="0" y="4601497"/>
            <a:chExt cx="1014060" cy="2017580"/>
          </a:xfrm>
        </p:grpSpPr>
        <p:sp>
          <p:nvSpPr>
            <p:cNvPr id="110" name="Google Shape;110;p3"/>
            <p:cNvSpPr/>
            <p:nvPr/>
          </p:nvSpPr>
          <p:spPr>
            <a:xfrm rot="5400000">
              <a:off x="-501760" y="5103257"/>
              <a:ext cx="2017580" cy="1014060"/>
            </a:xfrm>
            <a:prstGeom prst="triangle">
              <a:avLst>
                <a:gd fmla="val 50000" name="adj"/>
              </a:avLst>
            </a:prstGeom>
            <a:solidFill>
              <a:schemeClr val="accent1">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 name="Google Shape;111;p3"/>
            <p:cNvSpPr/>
            <p:nvPr/>
          </p:nvSpPr>
          <p:spPr>
            <a:xfrm rot="2700000">
              <a:off x="427916" y="5728708"/>
              <a:ext cx="485578" cy="485578"/>
            </a:xfrm>
            <a:prstGeom prst="rect">
              <a:avLst/>
            </a:prstGeom>
            <a:solidFill>
              <a:schemeClr val="accent1">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12" name="Google Shape;112;p3"/>
          <p:cNvGrpSpPr/>
          <p:nvPr/>
        </p:nvGrpSpPr>
        <p:grpSpPr>
          <a:xfrm>
            <a:off x="11219290" y="1"/>
            <a:ext cx="972709" cy="1935307"/>
            <a:chOff x="10918968" y="713127"/>
            <a:chExt cx="1273032" cy="2532832"/>
          </a:xfrm>
        </p:grpSpPr>
        <p:sp>
          <p:nvSpPr>
            <p:cNvPr id="113" name="Google Shape;113;p3"/>
            <p:cNvSpPr/>
            <p:nvPr/>
          </p:nvSpPr>
          <p:spPr>
            <a:xfrm rot="2700000">
              <a:off x="11052629" y="2120024"/>
              <a:ext cx="645368" cy="645368"/>
            </a:xfrm>
            <a:prstGeom prst="rect">
              <a:avLst/>
            </a:prstGeom>
            <a:solidFill>
              <a:schemeClr val="accent4">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 name="Google Shape;114;p3"/>
            <p:cNvSpPr/>
            <p:nvPr/>
          </p:nvSpPr>
          <p:spPr>
            <a:xfrm rot="-5400000">
              <a:off x="10289068" y="1343027"/>
              <a:ext cx="2532832" cy="1273032"/>
            </a:xfrm>
            <a:prstGeom prst="triangle">
              <a:avLst>
                <a:gd fmla="val 50000" name="adj"/>
              </a:avLst>
            </a:prstGeom>
            <a:solidFill>
              <a:schemeClr val="accent4">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aphicFrame>
        <p:nvGraphicFramePr>
          <p:cNvPr id="115" name="Google Shape;115;p3"/>
          <p:cNvGraphicFramePr/>
          <p:nvPr/>
        </p:nvGraphicFramePr>
        <p:xfrm>
          <a:off x="5295320" y="2023027"/>
          <a:ext cx="3000000" cy="3000000"/>
        </p:xfrm>
        <a:graphic>
          <a:graphicData uri="http://schemas.openxmlformats.org/drawingml/2006/table">
            <a:tbl>
              <a:tblPr>
                <a:solidFill>
                  <a:schemeClr val="lt1"/>
                </a:solidFill>
                <a:tableStyleId>{98C56282-31AA-4F51-A3A7-92F948880A99}</a:tableStyleId>
              </a:tblPr>
              <a:tblGrid>
                <a:gridCol w="859475"/>
                <a:gridCol w="234325"/>
                <a:gridCol w="535925"/>
                <a:gridCol w="2504975"/>
                <a:gridCol w="696825"/>
                <a:gridCol w="339650"/>
                <a:gridCol w="339650"/>
                <a:gridCol w="339650"/>
                <a:gridCol w="339650"/>
                <a:gridCol w="110750"/>
                <a:gridCol w="110750"/>
              </a:tblGrid>
              <a:tr h="287700">
                <a:tc gridSpan="2">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solidFill>
                            <a:schemeClr val="dk1"/>
                          </a:solidFill>
                        </a:rPr>
                        <a:t>Variables</a:t>
                      </a:r>
                      <a:endParaRPr b="1" i="0" sz="900" u="none" cap="none" strike="noStrike">
                        <a:solidFill>
                          <a:schemeClr val="dk1"/>
                        </a:solidFill>
                        <a:latin typeface="Arial"/>
                        <a:ea typeface="Arial"/>
                        <a:cs typeface="Arial"/>
                        <a:sym typeface="Arial"/>
                      </a:endParaRPr>
                    </a:p>
                  </a:txBody>
                  <a:tcPr marT="60775" marB="60775" marR="6325" marL="79025" anchor="b">
                    <a:lnL cap="flat" cmpd="sng" w="19050">
                      <a:solidFill>
                        <a:schemeClr val="dk1"/>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solidFill>
                            <a:schemeClr val="dk1"/>
                          </a:solidFill>
                        </a:rPr>
                        <a:t>1</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solidFill>
                            <a:schemeClr val="dk1"/>
                          </a:solidFill>
                        </a:rPr>
                        <a:t>gender (1 = woman, 2 = man)</a:t>
                      </a:r>
                      <a:endParaRPr b="0" i="0" sz="900" u="none" cap="none" strike="noStrike">
                        <a:solidFill>
                          <a:srgbClr val="FF0000"/>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287700">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19050">
                      <a:solidFill>
                        <a:schemeClr val="dk1"/>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solidFill>
                            <a:schemeClr val="dk1"/>
                          </a:solidFill>
                        </a:rPr>
                        <a:t>2</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solidFill>
                            <a:schemeClr val="dk1"/>
                          </a:solidFill>
                        </a:rPr>
                        <a:t>age (years)</a:t>
                      </a:r>
                      <a:endParaRPr b="1"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287700">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19050">
                      <a:solidFill>
                        <a:schemeClr val="dk1"/>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solidFill>
                            <a:schemeClr val="dk1"/>
                          </a:solidFill>
                        </a:rPr>
                        <a:t>3</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solidFill>
                            <a:schemeClr val="dk1"/>
                          </a:solidFill>
                        </a:rPr>
                        <a:t>family size (persons)</a:t>
                      </a:r>
                      <a:endParaRPr b="1"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287700">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19050">
                      <a:solidFill>
                        <a:schemeClr val="dk1"/>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solidFill>
                            <a:schemeClr val="dk1"/>
                          </a:solidFill>
                        </a:rPr>
                        <a:t>4</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solidFill>
                            <a:schemeClr val="dk1"/>
                          </a:solidFill>
                        </a:rPr>
                        <a:t>house (1 = own apartment, 2 = rental apartment, 3 = employy housing)</a:t>
                      </a:r>
                      <a:endParaRPr b="1"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hMerge="1"/>
                <a:tc hMerge="1"/>
                <a:tc hMerge="1"/>
                <a:tc hMerge="1"/>
                <a:tc hMerge="1"/>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429500">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19050">
                      <a:solidFill>
                        <a:schemeClr val="dk1"/>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solidFill>
                            <a:schemeClr val="dk1"/>
                          </a:solidFill>
                        </a:rPr>
                        <a:t>5</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gridSpan="8">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solidFill>
                            <a:schemeClr val="dk1"/>
                          </a:solidFill>
                        </a:rPr>
                        <a:t>education (1 = primary school, 2 = vocational school or similar, 3 = secondary school graduate,</a:t>
                      </a:r>
                      <a:endParaRPr b="1"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hMerge="1"/>
                <a:tc hMerge="1"/>
                <a:tc hMerge="1"/>
                <a:tc hMerge="1"/>
                <a:tc hMerge="1"/>
                <a:tc hMerge="1"/>
                <a:tc hMerge="1"/>
              </a:tr>
              <a:tr h="287700">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19050">
                      <a:solidFill>
                        <a:schemeClr val="dk1"/>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solidFill>
                            <a:schemeClr val="dk1"/>
                          </a:solidFill>
                        </a:rPr>
                        <a:t>4 = applied science university, 5 = other university)</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287700">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19050">
                      <a:solidFill>
                        <a:schemeClr val="dk1"/>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solidFill>
                            <a:schemeClr val="dk1"/>
                          </a:solidFill>
                        </a:rPr>
                        <a:t>6</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gridSpan="3">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solidFill>
                            <a:schemeClr val="dk1"/>
                          </a:solidFill>
                        </a:rPr>
                        <a:t>net household income  (€/month)</a:t>
                      </a:r>
                      <a:endParaRPr b="1"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hMerge="1"/>
                <a:tc hMerge="1"/>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287700">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19050">
                      <a:solidFill>
                        <a:schemeClr val="dk1"/>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solidFill>
                            <a:schemeClr val="dk1"/>
                          </a:solidFill>
                        </a:rPr>
                        <a:t>7</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solidFill>
                            <a:schemeClr val="dk1"/>
                          </a:solidFill>
                        </a:rPr>
                        <a:t>purchases of household (€/month, 1 = less than 250, </a:t>
                      </a:r>
                      <a:endParaRPr b="1"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hMerge="1"/>
                <a:tc hMerge="1"/>
                <a:tc hMerge="1"/>
                <a:tc hMerge="1"/>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287700">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19050">
                      <a:solidFill>
                        <a:schemeClr val="dk1"/>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solidFill>
                            <a:schemeClr val="dk1"/>
                          </a:solidFill>
                        </a:rPr>
                        <a:t>2 = 250 - 499, 3 = 500 - 749, 4 = 750 - 999, 5 = 1 000 or more)</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hMerge="1"/>
                <a:tc hMerge="1"/>
                <a:tc hMerge="1"/>
                <a:tc hMerge="1"/>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287700">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19050">
                      <a:solidFill>
                        <a:schemeClr val="dk1"/>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solidFill>
                            <a:schemeClr val="dk1"/>
                          </a:solidFill>
                        </a:rPr>
                        <a:t>8</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solidFill>
                            <a:schemeClr val="dk1"/>
                          </a:solidFill>
                        </a:rPr>
                        <a:t>satisfaction with the store's product range (scale 1 - 5, 1 = very</a:t>
                      </a:r>
                      <a:endParaRPr b="1"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hMerge="1"/>
                <a:tc hMerge="1"/>
                <a:tc hMerge="1"/>
                <a:tc hMerge="1"/>
                <a:tc hMerge="1"/>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287700">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19050">
                      <a:solidFill>
                        <a:schemeClr val="dk1"/>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solidFill>
                            <a:schemeClr val="dk1"/>
                          </a:solidFill>
                        </a:rPr>
                        <a:t>unsatisfied, 5 = very satisfied)</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287700">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19050">
                      <a:solidFill>
                        <a:schemeClr val="dk1"/>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solidFill>
                            <a:schemeClr val="dk1"/>
                          </a:solidFill>
                        </a:rPr>
                        <a:t>9</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gridSpan="7">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solidFill>
                            <a:schemeClr val="dk1"/>
                          </a:solidFill>
                        </a:rPr>
                        <a:t>satisfaction with the price level of the store (scale 1 - 5, 1 = very unsatisfied,</a:t>
                      </a:r>
                      <a:endParaRPr b="1"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hMerge="1"/>
                <a:tc hMerge="1"/>
                <a:tc hMerge="1"/>
                <a:tc hMerge="1"/>
                <a:tc hMerge="1"/>
                <a:tc hMerge="1"/>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287700">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19050">
                      <a:solidFill>
                        <a:schemeClr val="dk1"/>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solidFill>
                            <a:schemeClr val="dk1"/>
                          </a:solidFill>
                        </a:rPr>
                        <a:t>5 = very satisfied)</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txBody>
                  <a:tcPr marT="60775" marB="60775" marR="6325" marL="79025" anchor="b">
                    <a:lnL cap="flat" cmpd="sng" w="9525">
                      <a:solidFill>
                        <a:srgbClr val="7F7F7F"/>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t>Relevant info from describe table here</a:t>
            </a:r>
            <a:endParaRPr/>
          </a:p>
        </p:txBody>
      </p:sp>
      <p:sp>
        <p:nvSpPr>
          <p:cNvPr id="121" name="Google Shape;121;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Also provide interpretations and discussion (shortly on video also)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
        <p:nvSpPr>
          <p:cNvPr id="126" name="Google Shape;126;p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 name="Google Shape;127;p6"/>
          <p:cNvSpPr txBox="1"/>
          <p:nvPr>
            <p:ph type="title"/>
          </p:nvPr>
        </p:nvSpPr>
        <p:spPr>
          <a:xfrm>
            <a:off x="643467" y="321734"/>
            <a:ext cx="10905066" cy="113573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t>Background analysis (Net house income variable)</a:t>
            </a:r>
            <a:endParaRPr sz="3600"/>
          </a:p>
        </p:txBody>
      </p:sp>
      <p:sp>
        <p:nvSpPr>
          <p:cNvPr id="128" name="Google Shape;128;p6"/>
          <p:cNvSpPr txBox="1"/>
          <p:nvPr>
            <p:ph idx="1" type="body"/>
          </p:nvPr>
        </p:nvSpPr>
        <p:spPr>
          <a:xfrm>
            <a:off x="643469" y="1782981"/>
            <a:ext cx="4008384" cy="439398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Based on the survey the Net house income of our customers is much distributed as shown in the boxplot diagram.</a:t>
            </a:r>
            <a:endParaRPr/>
          </a:p>
          <a:p>
            <a:pPr indent="-228600" lvl="0" marL="228600" rtl="0" algn="l">
              <a:lnSpc>
                <a:spcPct val="90000"/>
              </a:lnSpc>
              <a:spcBef>
                <a:spcPts val="1000"/>
              </a:spcBef>
              <a:spcAft>
                <a:spcPts val="0"/>
              </a:spcAft>
              <a:buClr>
                <a:schemeClr val="dk1"/>
              </a:buClr>
              <a:buSzPts val="2000"/>
              <a:buChar char="•"/>
            </a:pPr>
            <a:r>
              <a:rPr lang="en-US" sz="2000"/>
              <a:t>More analysis/explanation goes here…</a:t>
            </a:r>
            <a:endParaRPr/>
          </a:p>
          <a:p>
            <a:pPr indent="-101600" lvl="0" marL="22860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Boxplot is closely related to the describe table, that’s why it should be presented here</a:t>
            </a:r>
            <a:endParaRPr/>
          </a:p>
          <a:p>
            <a:pPr indent="-228600" lvl="0" marL="228600" rtl="0" algn="l">
              <a:lnSpc>
                <a:spcPct val="90000"/>
              </a:lnSpc>
              <a:spcBef>
                <a:spcPts val="1000"/>
              </a:spcBef>
              <a:spcAft>
                <a:spcPts val="0"/>
              </a:spcAft>
              <a:buClr>
                <a:schemeClr val="dk1"/>
              </a:buClr>
              <a:buSzPts val="2000"/>
              <a:buChar char="•"/>
            </a:pPr>
            <a:r>
              <a:rPr lang="en-US" sz="2000"/>
              <a:t>What are outliers???</a:t>
            </a:r>
            <a:endParaRPr/>
          </a:p>
        </p:txBody>
      </p:sp>
      <p:grpSp>
        <p:nvGrpSpPr>
          <p:cNvPr id="129" name="Google Shape;129;p6"/>
          <p:cNvGrpSpPr/>
          <p:nvPr/>
        </p:nvGrpSpPr>
        <p:grpSpPr>
          <a:xfrm>
            <a:off x="0" y="4601497"/>
            <a:ext cx="1014060" cy="2017580"/>
            <a:chOff x="0" y="4601497"/>
            <a:chExt cx="1014060" cy="2017580"/>
          </a:xfrm>
        </p:grpSpPr>
        <p:sp>
          <p:nvSpPr>
            <p:cNvPr id="130" name="Google Shape;130;p6"/>
            <p:cNvSpPr/>
            <p:nvPr/>
          </p:nvSpPr>
          <p:spPr>
            <a:xfrm rot="5400000">
              <a:off x="-501760" y="5103257"/>
              <a:ext cx="2017580" cy="1014060"/>
            </a:xfrm>
            <a:prstGeom prst="triangle">
              <a:avLst>
                <a:gd fmla="val 50000" name="adj"/>
              </a:avLst>
            </a:prstGeom>
            <a:solidFill>
              <a:schemeClr val="accent1">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 name="Google Shape;131;p6"/>
            <p:cNvSpPr/>
            <p:nvPr/>
          </p:nvSpPr>
          <p:spPr>
            <a:xfrm rot="2700000">
              <a:off x="427916" y="5728708"/>
              <a:ext cx="485578" cy="485578"/>
            </a:xfrm>
            <a:prstGeom prst="rect">
              <a:avLst/>
            </a:prstGeom>
            <a:solidFill>
              <a:schemeClr val="accent1">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32" name="Google Shape;132;p6"/>
          <p:cNvPicPr preferRelativeResize="0"/>
          <p:nvPr/>
        </p:nvPicPr>
        <p:blipFill rotWithShape="1">
          <a:blip r:embed="rId3">
            <a:alphaModFix/>
          </a:blip>
          <a:srcRect b="0" l="0" r="0" t="0"/>
          <a:stretch/>
        </p:blipFill>
        <p:spPr>
          <a:xfrm>
            <a:off x="5414869" y="1782978"/>
            <a:ext cx="2781792" cy="2017575"/>
          </a:xfrm>
          <a:prstGeom prst="rect">
            <a:avLst/>
          </a:prstGeom>
          <a:noFill/>
          <a:ln>
            <a:noFill/>
          </a:ln>
        </p:spPr>
      </p:pic>
      <p:grpSp>
        <p:nvGrpSpPr>
          <p:cNvPr id="133" name="Google Shape;133;p6"/>
          <p:cNvGrpSpPr/>
          <p:nvPr/>
        </p:nvGrpSpPr>
        <p:grpSpPr>
          <a:xfrm>
            <a:off x="11219290" y="1"/>
            <a:ext cx="972709" cy="1935307"/>
            <a:chOff x="10918968" y="713127"/>
            <a:chExt cx="1273032" cy="2532832"/>
          </a:xfrm>
        </p:grpSpPr>
        <p:sp>
          <p:nvSpPr>
            <p:cNvPr id="134" name="Google Shape;134;p6"/>
            <p:cNvSpPr/>
            <p:nvPr/>
          </p:nvSpPr>
          <p:spPr>
            <a:xfrm rot="2700000">
              <a:off x="11052629" y="2120024"/>
              <a:ext cx="645368" cy="645368"/>
            </a:xfrm>
            <a:prstGeom prst="rect">
              <a:avLst/>
            </a:prstGeom>
            <a:solidFill>
              <a:schemeClr val="accent4">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5" name="Google Shape;135;p6"/>
            <p:cNvSpPr/>
            <p:nvPr/>
          </p:nvSpPr>
          <p:spPr>
            <a:xfrm rot="-5400000">
              <a:off x="10289068" y="1343027"/>
              <a:ext cx="2532832" cy="1273032"/>
            </a:xfrm>
            <a:prstGeom prst="triangle">
              <a:avLst>
                <a:gd fmla="val 50000" name="adj"/>
              </a:avLst>
            </a:prstGeom>
            <a:solidFill>
              <a:schemeClr val="accent4">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sp>
        <p:nvSpPr>
          <p:cNvPr id="140" name="Google Shape;140;p4"/>
          <p:cNvSpPr/>
          <p:nvPr/>
        </p:nvSpPr>
        <p:spPr>
          <a:xfrm flipH="1" rot="10800000">
            <a:off x="0" y="0"/>
            <a:ext cx="12192000" cy="400685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1" name="Google Shape;141;p4"/>
          <p:cNvSpPr txBox="1"/>
          <p:nvPr>
            <p:ph type="title"/>
          </p:nvPr>
        </p:nvSpPr>
        <p:spPr>
          <a:xfrm>
            <a:off x="838200" y="914402"/>
            <a:ext cx="10515600" cy="265995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8000"/>
              <a:buFont typeface="Calibri"/>
              <a:buNone/>
            </a:pPr>
            <a:r>
              <a:rPr lang="en-US" sz="8000">
                <a:solidFill>
                  <a:srgbClr val="FFFFFF"/>
                </a:solidFill>
                <a:latin typeface="Calibri"/>
                <a:ea typeface="Calibri"/>
                <a:cs typeface="Calibri"/>
                <a:sym typeface="Calibri"/>
              </a:rPr>
              <a:t>Background analysis (variable by variable)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41"/>
                                        </p:tgtEl>
                                        <p:attrNameLst>
                                          <p:attrName>style.visibility</p:attrName>
                                        </p:attrNameLst>
                                      </p:cBhvr>
                                      <p:to>
                                        <p:strVal val="visible"/>
                                      </p:to>
                                    </p:set>
                                    <p:animEffect filter="fade" transition="in">
                                      <p:cBhvr>
                                        <p:cTn dur="400"/>
                                        <p:tgtEl>
                                          <p:spTgt spid="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 name="Shape 145"/>
        <p:cNvGrpSpPr/>
        <p:nvPr/>
      </p:nvGrpSpPr>
      <p:grpSpPr>
        <a:xfrm>
          <a:off x="0" y="0"/>
          <a:ext cx="0" cy="0"/>
          <a:chOff x="0" y="0"/>
          <a:chExt cx="0" cy="0"/>
        </a:xfrm>
      </p:grpSpPr>
      <p:sp>
        <p:nvSpPr>
          <p:cNvPr id="146" name="Google Shape;146;p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47" name="Google Shape;147;p5"/>
          <p:cNvGrpSpPr/>
          <p:nvPr/>
        </p:nvGrpSpPr>
        <p:grpSpPr>
          <a:xfrm>
            <a:off x="11219290" y="1"/>
            <a:ext cx="972709" cy="1935307"/>
            <a:chOff x="10918968" y="713127"/>
            <a:chExt cx="1273032" cy="2532832"/>
          </a:xfrm>
        </p:grpSpPr>
        <p:sp>
          <p:nvSpPr>
            <p:cNvPr id="148" name="Google Shape;148;p5"/>
            <p:cNvSpPr/>
            <p:nvPr/>
          </p:nvSpPr>
          <p:spPr>
            <a:xfrm rot="2700000">
              <a:off x="11052629" y="2120024"/>
              <a:ext cx="645368" cy="645368"/>
            </a:xfrm>
            <a:prstGeom prst="rect">
              <a:avLst/>
            </a:prstGeom>
            <a:solidFill>
              <a:schemeClr val="accent4">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9" name="Google Shape;149;p5"/>
            <p:cNvSpPr/>
            <p:nvPr/>
          </p:nvSpPr>
          <p:spPr>
            <a:xfrm rot="-5400000">
              <a:off x="10289068" y="1343027"/>
              <a:ext cx="2532832" cy="1273032"/>
            </a:xfrm>
            <a:prstGeom prst="triangle">
              <a:avLst>
                <a:gd fmla="val 50000" name="adj"/>
              </a:avLst>
            </a:prstGeom>
            <a:solidFill>
              <a:schemeClr val="accent4">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50" name="Google Shape;150;p5"/>
          <p:cNvSpPr txBox="1"/>
          <p:nvPr>
            <p:ph type="title"/>
          </p:nvPr>
        </p:nvSpPr>
        <p:spPr>
          <a:xfrm>
            <a:off x="643467" y="321734"/>
            <a:ext cx="10905066" cy="113573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t>Background analysis (Education variable)</a:t>
            </a:r>
            <a:endParaRPr sz="3600"/>
          </a:p>
        </p:txBody>
      </p:sp>
      <p:sp>
        <p:nvSpPr>
          <p:cNvPr id="151" name="Google Shape;151;p5"/>
          <p:cNvSpPr txBox="1"/>
          <p:nvPr>
            <p:ph idx="1" type="body"/>
          </p:nvPr>
        </p:nvSpPr>
        <p:spPr>
          <a:xfrm>
            <a:off x="643468" y="1782981"/>
            <a:ext cx="6842935" cy="439398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Based on the survey the educational levels of our customers are distributed based on the percentage table shown here.</a:t>
            </a:r>
            <a:endParaRPr/>
          </a:p>
          <a:p>
            <a:pPr indent="-228600" lvl="0" marL="228600" rtl="0" algn="l">
              <a:lnSpc>
                <a:spcPct val="90000"/>
              </a:lnSpc>
              <a:spcBef>
                <a:spcPts val="1000"/>
              </a:spcBef>
              <a:spcAft>
                <a:spcPts val="0"/>
              </a:spcAft>
              <a:buClr>
                <a:schemeClr val="dk1"/>
              </a:buClr>
              <a:buSzPts val="2000"/>
              <a:buChar char="•"/>
            </a:pPr>
            <a:r>
              <a:rPr lang="en-US" sz="2000"/>
              <a:t>More analysis/explanation goes here…</a:t>
            </a:r>
            <a:endParaRPr/>
          </a:p>
        </p:txBody>
      </p:sp>
      <p:grpSp>
        <p:nvGrpSpPr>
          <p:cNvPr id="152" name="Google Shape;152;p5"/>
          <p:cNvGrpSpPr/>
          <p:nvPr/>
        </p:nvGrpSpPr>
        <p:grpSpPr>
          <a:xfrm>
            <a:off x="0" y="4601497"/>
            <a:ext cx="1014060" cy="2017580"/>
            <a:chOff x="0" y="4601497"/>
            <a:chExt cx="1014060" cy="2017580"/>
          </a:xfrm>
        </p:grpSpPr>
        <p:sp>
          <p:nvSpPr>
            <p:cNvPr id="153" name="Google Shape;153;p5"/>
            <p:cNvSpPr/>
            <p:nvPr/>
          </p:nvSpPr>
          <p:spPr>
            <a:xfrm rot="5400000">
              <a:off x="-501760" y="5103257"/>
              <a:ext cx="2017580" cy="1014060"/>
            </a:xfrm>
            <a:prstGeom prst="triangle">
              <a:avLst>
                <a:gd fmla="val 50000" name="adj"/>
              </a:avLst>
            </a:prstGeom>
            <a:solidFill>
              <a:schemeClr val="accent1">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4" name="Google Shape;154;p5"/>
            <p:cNvSpPr/>
            <p:nvPr/>
          </p:nvSpPr>
          <p:spPr>
            <a:xfrm rot="2700000">
              <a:off x="427916" y="5728708"/>
              <a:ext cx="485578" cy="485578"/>
            </a:xfrm>
            <a:prstGeom prst="rect">
              <a:avLst/>
            </a:prstGeom>
            <a:solidFill>
              <a:schemeClr val="accent1">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55" name="Google Shape;155;p5"/>
          <p:cNvPicPr preferRelativeResize="0"/>
          <p:nvPr/>
        </p:nvPicPr>
        <p:blipFill rotWithShape="1">
          <a:blip r:embed="rId3">
            <a:alphaModFix/>
          </a:blip>
          <a:srcRect b="0" l="0" r="0" t="0"/>
          <a:stretch/>
        </p:blipFill>
        <p:spPr>
          <a:xfrm>
            <a:off x="8132318" y="1782981"/>
            <a:ext cx="3416214" cy="1782836"/>
          </a:xfrm>
          <a:prstGeom prst="rect">
            <a:avLst/>
          </a:prstGeom>
          <a:noFill/>
          <a:ln>
            <a:noFill/>
          </a:ln>
        </p:spPr>
      </p:pic>
      <p:sp>
        <p:nvSpPr>
          <p:cNvPr id="156" name="Google Shape;156;p5"/>
          <p:cNvSpPr txBox="1"/>
          <p:nvPr/>
        </p:nvSpPr>
        <p:spPr>
          <a:xfrm rot="-1921325">
            <a:off x="2533928" y="3172046"/>
            <a:ext cx="78097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Calibri"/>
                <a:ea typeface="Calibri"/>
                <a:cs typeface="Calibri"/>
                <a:sym typeface="Calibri"/>
              </a:rPr>
              <a:t>Or maybe better to use percentages in this case….</a:t>
            </a:r>
            <a:endParaRPr b="0" i="0" sz="1800" u="none" cap="none" strike="noStrike">
              <a:solidFill>
                <a:srgbClr val="FF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sp>
        <p:nvSpPr>
          <p:cNvPr id="161" name="Google Shape;161;p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2" name="Google Shape;162;p7"/>
          <p:cNvSpPr txBox="1"/>
          <p:nvPr>
            <p:ph type="title"/>
          </p:nvPr>
        </p:nvSpPr>
        <p:spPr>
          <a:xfrm>
            <a:off x="643467" y="321734"/>
            <a:ext cx="4970877" cy="113573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t>Background analysis (Net house income variable)</a:t>
            </a:r>
            <a:endParaRPr sz="3600"/>
          </a:p>
        </p:txBody>
      </p:sp>
      <p:sp>
        <p:nvSpPr>
          <p:cNvPr id="163" name="Google Shape;163;p7"/>
          <p:cNvSpPr txBox="1"/>
          <p:nvPr>
            <p:ph idx="1" type="body"/>
          </p:nvPr>
        </p:nvSpPr>
        <p:spPr>
          <a:xfrm>
            <a:off x="643468" y="1782981"/>
            <a:ext cx="4970877" cy="4393982"/>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sz="2000"/>
              <a:t>Since boxplot does not describe the customer net house income fully the histogram of that variable is provided here. The income classes used where </a:t>
            </a:r>
            <a:endParaRPr/>
          </a:p>
          <a:p>
            <a:pPr indent="-228600" lvl="0" marL="228600" rtl="0" algn="l">
              <a:lnSpc>
                <a:spcPct val="90000"/>
              </a:lnSpc>
              <a:spcBef>
                <a:spcPts val="1000"/>
              </a:spcBef>
              <a:spcAft>
                <a:spcPts val="0"/>
              </a:spcAft>
              <a:buClr>
                <a:schemeClr val="dk1"/>
              </a:buClr>
              <a:buSzPct val="100000"/>
              <a:buChar char="•"/>
            </a:pPr>
            <a:r>
              <a:rPr lang="en-US" sz="2000"/>
              <a:t> 500 - 1000</a:t>
            </a:r>
            <a:endParaRPr/>
          </a:p>
          <a:p>
            <a:pPr indent="-228600" lvl="0" marL="228600" rtl="0" algn="l">
              <a:lnSpc>
                <a:spcPct val="90000"/>
              </a:lnSpc>
              <a:spcBef>
                <a:spcPts val="1000"/>
              </a:spcBef>
              <a:spcAft>
                <a:spcPts val="0"/>
              </a:spcAft>
              <a:buClr>
                <a:schemeClr val="dk1"/>
              </a:buClr>
              <a:buSzPct val="100000"/>
              <a:buChar char="•"/>
            </a:pPr>
            <a:r>
              <a:rPr lang="en-US" sz="2000"/>
              <a:t>1000 – 2000</a:t>
            </a:r>
            <a:endParaRPr/>
          </a:p>
          <a:p>
            <a:pPr indent="-228600" lvl="0" marL="228600" rtl="0" algn="l">
              <a:lnSpc>
                <a:spcPct val="90000"/>
              </a:lnSpc>
              <a:spcBef>
                <a:spcPts val="1000"/>
              </a:spcBef>
              <a:spcAft>
                <a:spcPts val="0"/>
              </a:spcAft>
              <a:buClr>
                <a:schemeClr val="dk1"/>
              </a:buClr>
              <a:buSzPct val="100000"/>
              <a:buChar char="•"/>
            </a:pPr>
            <a:r>
              <a:rPr lang="en-US" sz="2000"/>
              <a:t>2000 – 3000</a:t>
            </a:r>
            <a:endParaRPr/>
          </a:p>
          <a:p>
            <a:pPr indent="-228600" lvl="0" marL="228600" rtl="0" algn="l">
              <a:lnSpc>
                <a:spcPct val="90000"/>
              </a:lnSpc>
              <a:spcBef>
                <a:spcPts val="1000"/>
              </a:spcBef>
              <a:spcAft>
                <a:spcPts val="0"/>
              </a:spcAft>
              <a:buClr>
                <a:schemeClr val="dk1"/>
              </a:buClr>
              <a:buSzPct val="100000"/>
              <a:buChar char="•"/>
            </a:pPr>
            <a:r>
              <a:rPr lang="en-US" sz="2000"/>
              <a:t>3000 – 4000</a:t>
            </a:r>
            <a:endParaRPr/>
          </a:p>
          <a:p>
            <a:pPr indent="-228600" lvl="0" marL="228600" rtl="0" algn="l">
              <a:lnSpc>
                <a:spcPct val="90000"/>
              </a:lnSpc>
              <a:spcBef>
                <a:spcPts val="1000"/>
              </a:spcBef>
              <a:spcAft>
                <a:spcPts val="0"/>
              </a:spcAft>
              <a:buClr>
                <a:schemeClr val="dk1"/>
              </a:buClr>
              <a:buSzPct val="100000"/>
              <a:buChar char="•"/>
            </a:pPr>
            <a:r>
              <a:rPr lang="en-US" sz="2000"/>
              <a:t>4000 – 7000</a:t>
            </a:r>
            <a:endParaRPr/>
          </a:p>
          <a:p>
            <a:pPr indent="-228600" lvl="0" marL="228600" rtl="0" algn="l">
              <a:lnSpc>
                <a:spcPct val="90000"/>
              </a:lnSpc>
              <a:spcBef>
                <a:spcPts val="1000"/>
              </a:spcBef>
              <a:spcAft>
                <a:spcPts val="0"/>
              </a:spcAft>
              <a:buClr>
                <a:schemeClr val="dk1"/>
              </a:buClr>
              <a:buSzPct val="100000"/>
              <a:buChar char="•"/>
            </a:pPr>
            <a:r>
              <a:rPr lang="en-US" sz="2000"/>
              <a:t>We can see that about 70% of our curtomers net house income is between 1000 and 300 euros and also 3000 – 4000 e net income is rather common.</a:t>
            </a:r>
            <a:endParaRPr/>
          </a:p>
          <a:p>
            <a:pPr indent="-228600" lvl="0" marL="228600" rtl="0" algn="l">
              <a:lnSpc>
                <a:spcPct val="90000"/>
              </a:lnSpc>
              <a:spcBef>
                <a:spcPts val="1000"/>
              </a:spcBef>
              <a:spcAft>
                <a:spcPts val="0"/>
              </a:spcAft>
              <a:buClr>
                <a:schemeClr val="dk1"/>
              </a:buClr>
              <a:buSzPct val="100000"/>
              <a:buChar char="•"/>
            </a:pPr>
            <a:r>
              <a:rPr lang="en-US" sz="2000"/>
              <a:t>Maybe some suggestions based on your findings… (no need now for this course!)</a:t>
            </a:r>
            <a:endParaRPr sz="2000"/>
          </a:p>
        </p:txBody>
      </p:sp>
      <p:sp>
        <p:nvSpPr>
          <p:cNvPr id="164" name="Google Shape;164;p7"/>
          <p:cNvSpPr/>
          <p:nvPr/>
        </p:nvSpPr>
        <p:spPr>
          <a:xfrm rot="5400000">
            <a:off x="-501760" y="5103257"/>
            <a:ext cx="2017580" cy="1014060"/>
          </a:xfrm>
          <a:prstGeom prst="triangle">
            <a:avLst>
              <a:gd fmla="val 50000" name="adj"/>
            </a:avLst>
          </a:prstGeom>
          <a:solidFill>
            <a:schemeClr val="accent1">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5" name="Google Shape;165;p7"/>
          <p:cNvSpPr/>
          <p:nvPr/>
        </p:nvSpPr>
        <p:spPr>
          <a:xfrm rot="2700000">
            <a:off x="427916" y="5728708"/>
            <a:ext cx="485578" cy="485578"/>
          </a:xfrm>
          <a:prstGeom prst="rect">
            <a:avLst/>
          </a:prstGeom>
          <a:solidFill>
            <a:schemeClr val="accent1">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66" name="Google Shape;166;p7"/>
          <p:cNvPicPr preferRelativeResize="0"/>
          <p:nvPr/>
        </p:nvPicPr>
        <p:blipFill rotWithShape="1">
          <a:blip r:embed="rId3">
            <a:alphaModFix/>
          </a:blip>
          <a:srcRect b="0" l="0" r="0" t="0"/>
          <a:stretch/>
        </p:blipFill>
        <p:spPr>
          <a:xfrm>
            <a:off x="6257813" y="1676532"/>
            <a:ext cx="5290720" cy="3504935"/>
          </a:xfrm>
          <a:prstGeom prst="rect">
            <a:avLst/>
          </a:prstGeom>
          <a:noFill/>
          <a:ln>
            <a:noFill/>
          </a:ln>
        </p:spPr>
      </p:pic>
      <p:grpSp>
        <p:nvGrpSpPr>
          <p:cNvPr id="167" name="Google Shape;167;p7"/>
          <p:cNvGrpSpPr/>
          <p:nvPr/>
        </p:nvGrpSpPr>
        <p:grpSpPr>
          <a:xfrm>
            <a:off x="11094719" y="0"/>
            <a:ext cx="1097281" cy="1097280"/>
            <a:chOff x="11094719" y="0"/>
            <a:chExt cx="1097281" cy="1097280"/>
          </a:xfrm>
        </p:grpSpPr>
        <p:sp>
          <p:nvSpPr>
            <p:cNvPr id="168" name="Google Shape;168;p7"/>
            <p:cNvSpPr/>
            <p:nvPr/>
          </p:nvSpPr>
          <p:spPr>
            <a:xfrm rot="-5400000">
              <a:off x="11094720" y="0"/>
              <a:ext cx="1097280" cy="1097280"/>
            </a:xfrm>
            <a:prstGeom prst="triangle">
              <a:avLst>
                <a:gd fmla="val 100000" name="adj"/>
              </a:avLst>
            </a:prstGeom>
            <a:solidFill>
              <a:schemeClr val="accent4">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9" name="Google Shape;169;p7"/>
            <p:cNvSpPr/>
            <p:nvPr/>
          </p:nvSpPr>
          <p:spPr>
            <a:xfrm rot="2700000">
              <a:off x="11189552" y="127618"/>
              <a:ext cx="457894" cy="457894"/>
            </a:xfrm>
            <a:prstGeom prst="rect">
              <a:avLst/>
            </a:prstGeom>
            <a:solidFill>
              <a:schemeClr val="accent4">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
        <p:nvSpPr>
          <p:cNvPr id="174" name="Google Shape;174;p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75" name="Google Shape;175;p8"/>
          <p:cNvGrpSpPr/>
          <p:nvPr/>
        </p:nvGrpSpPr>
        <p:grpSpPr>
          <a:xfrm>
            <a:off x="11219290" y="1"/>
            <a:ext cx="972709" cy="1935307"/>
            <a:chOff x="10918968" y="713127"/>
            <a:chExt cx="1273032" cy="2532832"/>
          </a:xfrm>
        </p:grpSpPr>
        <p:sp>
          <p:nvSpPr>
            <p:cNvPr id="176" name="Google Shape;176;p8"/>
            <p:cNvSpPr/>
            <p:nvPr/>
          </p:nvSpPr>
          <p:spPr>
            <a:xfrm rot="2700000">
              <a:off x="11052629" y="2120024"/>
              <a:ext cx="645368" cy="645368"/>
            </a:xfrm>
            <a:prstGeom prst="rect">
              <a:avLst/>
            </a:prstGeom>
            <a:solidFill>
              <a:schemeClr val="accent4">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7" name="Google Shape;177;p8"/>
            <p:cNvSpPr/>
            <p:nvPr/>
          </p:nvSpPr>
          <p:spPr>
            <a:xfrm rot="-5400000">
              <a:off x="10289068" y="1343027"/>
              <a:ext cx="2532832" cy="1273032"/>
            </a:xfrm>
            <a:prstGeom prst="triangle">
              <a:avLst>
                <a:gd fmla="val 50000" name="adj"/>
              </a:avLst>
            </a:prstGeom>
            <a:solidFill>
              <a:schemeClr val="accent4">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78" name="Google Shape;178;p8"/>
          <p:cNvSpPr txBox="1"/>
          <p:nvPr>
            <p:ph type="title"/>
          </p:nvPr>
        </p:nvSpPr>
        <p:spPr>
          <a:xfrm>
            <a:off x="643467" y="321734"/>
            <a:ext cx="10905066" cy="113573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t>Background analysis (Education variable)</a:t>
            </a:r>
            <a:endParaRPr sz="3600"/>
          </a:p>
        </p:txBody>
      </p:sp>
      <p:sp>
        <p:nvSpPr>
          <p:cNvPr id="179" name="Google Shape;179;p8"/>
          <p:cNvSpPr txBox="1"/>
          <p:nvPr>
            <p:ph idx="1" type="body"/>
          </p:nvPr>
        </p:nvSpPr>
        <p:spPr>
          <a:xfrm>
            <a:off x="643468" y="1782981"/>
            <a:ext cx="6842935" cy="439398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Based on the survey the educational levels of our customers are distributed based on the frequency table shown here.</a:t>
            </a:r>
            <a:endParaRPr/>
          </a:p>
          <a:p>
            <a:pPr indent="-228600" lvl="0" marL="228600" rtl="0" algn="l">
              <a:lnSpc>
                <a:spcPct val="90000"/>
              </a:lnSpc>
              <a:spcBef>
                <a:spcPts val="1000"/>
              </a:spcBef>
              <a:spcAft>
                <a:spcPts val="0"/>
              </a:spcAft>
              <a:buClr>
                <a:schemeClr val="dk1"/>
              </a:buClr>
              <a:buSzPts val="2000"/>
              <a:buChar char="•"/>
            </a:pPr>
            <a:r>
              <a:rPr lang="en-US" sz="2000"/>
              <a:t>More analysis/explanation goes here…</a:t>
            </a:r>
            <a:endParaRPr/>
          </a:p>
        </p:txBody>
      </p:sp>
      <p:grpSp>
        <p:nvGrpSpPr>
          <p:cNvPr id="180" name="Google Shape;180;p8"/>
          <p:cNvGrpSpPr/>
          <p:nvPr/>
        </p:nvGrpSpPr>
        <p:grpSpPr>
          <a:xfrm>
            <a:off x="0" y="4601497"/>
            <a:ext cx="1014060" cy="2017580"/>
            <a:chOff x="0" y="4601497"/>
            <a:chExt cx="1014060" cy="2017580"/>
          </a:xfrm>
        </p:grpSpPr>
        <p:sp>
          <p:nvSpPr>
            <p:cNvPr id="181" name="Google Shape;181;p8"/>
            <p:cNvSpPr/>
            <p:nvPr/>
          </p:nvSpPr>
          <p:spPr>
            <a:xfrm rot="5400000">
              <a:off x="-501760" y="5103257"/>
              <a:ext cx="2017580" cy="1014060"/>
            </a:xfrm>
            <a:prstGeom prst="triangle">
              <a:avLst>
                <a:gd fmla="val 50000" name="adj"/>
              </a:avLst>
            </a:prstGeom>
            <a:solidFill>
              <a:schemeClr val="accent1">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2" name="Google Shape;182;p8"/>
            <p:cNvSpPr/>
            <p:nvPr/>
          </p:nvSpPr>
          <p:spPr>
            <a:xfrm rot="2700000">
              <a:off x="427916" y="5728708"/>
              <a:ext cx="485578" cy="485578"/>
            </a:xfrm>
            <a:prstGeom prst="rect">
              <a:avLst/>
            </a:prstGeom>
            <a:solidFill>
              <a:schemeClr val="accent1">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83" name="Google Shape;183;p8"/>
          <p:cNvPicPr preferRelativeResize="0"/>
          <p:nvPr/>
        </p:nvPicPr>
        <p:blipFill rotWithShape="1">
          <a:blip r:embed="rId3">
            <a:alphaModFix/>
          </a:blip>
          <a:srcRect b="0" l="0" r="0" t="0"/>
          <a:stretch/>
        </p:blipFill>
        <p:spPr>
          <a:xfrm>
            <a:off x="8132318" y="1782981"/>
            <a:ext cx="3416214" cy="25101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sp>
        <p:nvSpPr>
          <p:cNvPr id="188" name="Google Shape;188;p9"/>
          <p:cNvSpPr/>
          <p:nvPr/>
        </p:nvSpPr>
        <p:spPr>
          <a:xfrm>
            <a:off x="1588" y="0"/>
            <a:ext cx="12188825" cy="42428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9" name="Google Shape;189;p9"/>
          <p:cNvSpPr txBox="1"/>
          <p:nvPr>
            <p:ph type="title"/>
          </p:nvPr>
        </p:nvSpPr>
        <p:spPr>
          <a:xfrm>
            <a:off x="1293026" y="713195"/>
            <a:ext cx="9605948" cy="231866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5400"/>
              <a:buFont typeface="Calibri"/>
              <a:buNone/>
            </a:pPr>
            <a:r>
              <a:rPr lang="en-US" sz="5400">
                <a:solidFill>
                  <a:srgbClr val="FFFFFF"/>
                </a:solidFill>
                <a:latin typeface="Calibri"/>
                <a:ea typeface="Calibri"/>
                <a:cs typeface="Calibri"/>
                <a:sym typeface="Calibri"/>
              </a:rPr>
              <a:t>Background analysis (more ….)</a:t>
            </a:r>
            <a:endParaRPr/>
          </a:p>
        </p:txBody>
      </p:sp>
      <p:sp>
        <p:nvSpPr>
          <p:cNvPr id="190" name="Google Shape;190;p9"/>
          <p:cNvSpPr txBox="1"/>
          <p:nvPr>
            <p:ph idx="1" type="body"/>
          </p:nvPr>
        </p:nvSpPr>
        <p:spPr>
          <a:xfrm>
            <a:off x="1627240" y="3031860"/>
            <a:ext cx="8937522" cy="105937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2400"/>
              <a:buNone/>
            </a:pPr>
            <a:r>
              <a:rPr lang="en-US" sz="2400">
                <a:solidFill>
                  <a:srgbClr val="FFFFFF"/>
                </a:solidFill>
                <a:latin typeface="Calibri"/>
                <a:ea typeface="Calibri"/>
                <a:cs typeface="Calibri"/>
                <a:sym typeface="Calibri"/>
              </a:rPr>
              <a:t>Report other relevant findings here…</a:t>
            </a:r>
            <a:endParaRPr/>
          </a:p>
        </p:txBody>
      </p:sp>
      <p:pic>
        <p:nvPicPr>
          <p:cNvPr descr="Mikroskooppi" id="191" name="Google Shape;191;p9"/>
          <p:cNvPicPr preferRelativeResize="0"/>
          <p:nvPr/>
        </p:nvPicPr>
        <p:blipFill rotWithShape="1">
          <a:blip r:embed="rId3">
            <a:alphaModFix/>
          </a:blip>
          <a:srcRect b="0" l="0" r="0" t="0"/>
          <a:stretch/>
        </p:blipFill>
        <p:spPr>
          <a:xfrm>
            <a:off x="5506089" y="4805363"/>
            <a:ext cx="1179824" cy="11798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5" name="Shape 195"/>
        <p:cNvGrpSpPr/>
        <p:nvPr/>
      </p:nvGrpSpPr>
      <p:grpSpPr>
        <a:xfrm>
          <a:off x="0" y="0"/>
          <a:ext cx="0" cy="0"/>
          <a:chOff x="0" y="0"/>
          <a:chExt cx="0" cy="0"/>
        </a:xfrm>
      </p:grpSpPr>
      <p:sp>
        <p:nvSpPr>
          <p:cNvPr id="196" name="Google Shape;196;p10"/>
          <p:cNvSpPr/>
          <p:nvPr/>
        </p:nvSpPr>
        <p:spPr>
          <a:xfrm>
            <a:off x="-1" y="0"/>
            <a:ext cx="5093209"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7" name="Google Shape;197;p10"/>
          <p:cNvSpPr txBox="1"/>
          <p:nvPr>
            <p:ph type="title"/>
          </p:nvPr>
        </p:nvSpPr>
        <p:spPr>
          <a:xfrm>
            <a:off x="524741" y="620392"/>
            <a:ext cx="3808268" cy="55046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alibri"/>
              <a:buNone/>
            </a:pPr>
            <a:r>
              <a:rPr lang="en-US" sz="6000">
                <a:solidFill>
                  <a:schemeClr val="lt1"/>
                </a:solidFill>
                <a:latin typeface="Calibri"/>
                <a:ea typeface="Calibri"/>
                <a:cs typeface="Calibri"/>
                <a:sym typeface="Calibri"/>
              </a:rPr>
              <a:t>Analyzes two qualitative variables </a:t>
            </a:r>
            <a:endParaRPr/>
          </a:p>
        </p:txBody>
      </p:sp>
      <p:grpSp>
        <p:nvGrpSpPr>
          <p:cNvPr id="198" name="Google Shape;198;p10"/>
          <p:cNvGrpSpPr/>
          <p:nvPr/>
        </p:nvGrpSpPr>
        <p:grpSpPr>
          <a:xfrm>
            <a:off x="5468389" y="620392"/>
            <a:ext cx="6263640" cy="5504686"/>
            <a:chOff x="0" y="0"/>
            <a:chExt cx="6263640" cy="5504686"/>
          </a:xfrm>
        </p:grpSpPr>
        <p:cxnSp>
          <p:nvCxnSpPr>
            <p:cNvPr id="199" name="Google Shape;199;p10"/>
            <p:cNvCxnSpPr/>
            <p:nvPr/>
          </p:nvCxnSpPr>
          <p:spPr>
            <a:xfrm>
              <a:off x="0" y="0"/>
              <a:ext cx="6263640" cy="0"/>
            </a:xfrm>
            <a:prstGeom prst="straightConnector1">
              <a:avLst/>
            </a:prstGeom>
            <a:solidFill>
              <a:schemeClr val="accent2"/>
            </a:solidFill>
            <a:ln cap="flat" cmpd="sng" w="12700">
              <a:solidFill>
                <a:schemeClr val="accent2"/>
              </a:solidFill>
              <a:prstDash val="solid"/>
              <a:miter lim="800000"/>
              <a:headEnd len="sm" w="sm" type="none"/>
              <a:tailEnd len="sm" w="sm" type="none"/>
            </a:ln>
          </p:spPr>
        </p:cxnSp>
        <p:sp>
          <p:nvSpPr>
            <p:cNvPr id="200" name="Google Shape;200;p10"/>
            <p:cNvSpPr/>
            <p:nvPr/>
          </p:nvSpPr>
          <p:spPr>
            <a:xfrm>
              <a:off x="0" y="0"/>
              <a:ext cx="6263640" cy="137617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0"/>
            <p:cNvSpPr txBox="1"/>
            <p:nvPr/>
          </p:nvSpPr>
          <p:spPr>
            <a:xfrm>
              <a:off x="0" y="0"/>
              <a:ext cx="6263640" cy="1376171"/>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Calibri"/>
                <a:buNone/>
              </a:pPr>
              <a:r>
                <a:rPr b="0" i="0" lang="en-US" sz="2100" u="none" cap="none" strike="noStrike">
                  <a:solidFill>
                    <a:schemeClr val="dk1"/>
                  </a:solidFill>
                  <a:latin typeface="Calibri"/>
                  <a:ea typeface="Calibri"/>
                  <a:cs typeface="Calibri"/>
                  <a:sym typeface="Calibri"/>
                </a:rPr>
                <a:t>Maybe there are some variable pair of variables 1-7 that provide meaningful background information for the business already</a:t>
              </a:r>
              <a:endParaRPr b="0" i="0" sz="1400" u="none" cap="none" strike="noStrike">
                <a:solidFill>
                  <a:srgbClr val="000000"/>
                </a:solidFill>
                <a:latin typeface="Arial"/>
                <a:ea typeface="Arial"/>
                <a:cs typeface="Arial"/>
                <a:sym typeface="Arial"/>
              </a:endParaRPr>
            </a:p>
          </p:txBody>
        </p:sp>
        <p:cxnSp>
          <p:nvCxnSpPr>
            <p:cNvPr id="202" name="Google Shape;202;p10"/>
            <p:cNvCxnSpPr/>
            <p:nvPr/>
          </p:nvCxnSpPr>
          <p:spPr>
            <a:xfrm>
              <a:off x="0" y="1376171"/>
              <a:ext cx="6263640" cy="0"/>
            </a:xfrm>
            <a:prstGeom prst="straightConnector1">
              <a:avLst/>
            </a:prstGeom>
            <a:solidFill>
              <a:schemeClr val="accent3"/>
            </a:solidFill>
            <a:ln cap="flat" cmpd="sng" w="12700">
              <a:solidFill>
                <a:schemeClr val="accent3"/>
              </a:solidFill>
              <a:prstDash val="solid"/>
              <a:miter lim="800000"/>
              <a:headEnd len="sm" w="sm" type="none"/>
              <a:tailEnd len="sm" w="sm" type="none"/>
            </a:ln>
          </p:spPr>
        </p:cxnSp>
        <p:sp>
          <p:nvSpPr>
            <p:cNvPr id="203" name="Google Shape;203;p10"/>
            <p:cNvSpPr/>
            <p:nvPr/>
          </p:nvSpPr>
          <p:spPr>
            <a:xfrm>
              <a:off x="0" y="1376171"/>
              <a:ext cx="6263640" cy="137617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0"/>
            <p:cNvSpPr txBox="1"/>
            <p:nvPr/>
          </p:nvSpPr>
          <p:spPr>
            <a:xfrm>
              <a:off x="0" y="1376171"/>
              <a:ext cx="6263640" cy="1376171"/>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Calibri"/>
                <a:buNone/>
              </a:pPr>
              <a:r>
                <a:rPr b="0" i="0" lang="en-US" sz="2100" u="none" cap="none" strike="noStrike">
                  <a:solidFill>
                    <a:schemeClr val="dk1"/>
                  </a:solidFill>
                  <a:latin typeface="Calibri"/>
                  <a:ea typeface="Calibri"/>
                  <a:cs typeface="Calibri"/>
                  <a:sym typeface="Calibri"/>
                </a:rPr>
                <a:t>However, remember that your boss is most interested in findings with variables 1-7 together with variables 8 and 9!</a:t>
              </a:r>
              <a:endParaRPr b="0" i="0" sz="1400" u="none" cap="none" strike="noStrike">
                <a:solidFill>
                  <a:srgbClr val="000000"/>
                </a:solidFill>
                <a:latin typeface="Arial"/>
                <a:ea typeface="Arial"/>
                <a:cs typeface="Arial"/>
                <a:sym typeface="Arial"/>
              </a:endParaRPr>
            </a:p>
          </p:txBody>
        </p:sp>
        <p:cxnSp>
          <p:nvCxnSpPr>
            <p:cNvPr id="205" name="Google Shape;205;p10"/>
            <p:cNvCxnSpPr/>
            <p:nvPr/>
          </p:nvCxnSpPr>
          <p:spPr>
            <a:xfrm>
              <a:off x="0" y="2752343"/>
              <a:ext cx="6263640" cy="0"/>
            </a:xfrm>
            <a:prstGeom prst="straightConnector1">
              <a:avLst/>
            </a:prstGeom>
            <a:solidFill>
              <a:schemeClr val="accent4"/>
            </a:solidFill>
            <a:ln cap="flat" cmpd="sng" w="12700">
              <a:solidFill>
                <a:schemeClr val="accent4"/>
              </a:solidFill>
              <a:prstDash val="solid"/>
              <a:miter lim="800000"/>
              <a:headEnd len="sm" w="sm" type="none"/>
              <a:tailEnd len="sm" w="sm" type="none"/>
            </a:ln>
          </p:spPr>
        </p:cxnSp>
        <p:sp>
          <p:nvSpPr>
            <p:cNvPr id="206" name="Google Shape;206;p10"/>
            <p:cNvSpPr/>
            <p:nvPr/>
          </p:nvSpPr>
          <p:spPr>
            <a:xfrm>
              <a:off x="0" y="2752343"/>
              <a:ext cx="6263640" cy="137617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0"/>
            <p:cNvSpPr txBox="1"/>
            <p:nvPr/>
          </p:nvSpPr>
          <p:spPr>
            <a:xfrm>
              <a:off x="0" y="2752343"/>
              <a:ext cx="6263640" cy="1376171"/>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rgbClr val="FF0000"/>
                </a:buClr>
                <a:buSzPts val="2100"/>
                <a:buFont typeface="Calibri"/>
                <a:buNone/>
              </a:pPr>
              <a:r>
                <a:rPr b="0" i="0" lang="en-US" sz="2100" u="none" cap="none" strike="noStrike">
                  <a:solidFill>
                    <a:srgbClr val="FF0000"/>
                  </a:solidFill>
                  <a:latin typeface="Calibri"/>
                  <a:ea typeface="Calibri"/>
                  <a:cs typeface="Calibri"/>
                  <a:sym typeface="Calibri"/>
                </a:rPr>
                <a:t>Here I will report analysis between variables gender and education… Which does not have much if any meaning for the business here … but just for the illustration.</a:t>
              </a:r>
              <a:endParaRPr b="0" i="0" sz="1400" u="none" cap="none" strike="noStrike">
                <a:solidFill>
                  <a:srgbClr val="000000"/>
                </a:solidFill>
                <a:latin typeface="Arial"/>
                <a:ea typeface="Arial"/>
                <a:cs typeface="Arial"/>
                <a:sym typeface="Arial"/>
              </a:endParaRPr>
            </a:p>
          </p:txBody>
        </p:sp>
        <p:cxnSp>
          <p:nvCxnSpPr>
            <p:cNvPr id="208" name="Google Shape;208;p10"/>
            <p:cNvCxnSpPr/>
            <p:nvPr/>
          </p:nvCxnSpPr>
          <p:spPr>
            <a:xfrm>
              <a:off x="0" y="4128515"/>
              <a:ext cx="6263640" cy="0"/>
            </a:xfrm>
            <a:prstGeom prst="straightConnector1">
              <a:avLst/>
            </a:prstGeom>
            <a:solidFill>
              <a:srgbClr val="599BD5"/>
            </a:solidFill>
            <a:ln cap="flat" cmpd="sng" w="12700">
              <a:solidFill>
                <a:srgbClr val="599BD5"/>
              </a:solidFill>
              <a:prstDash val="solid"/>
              <a:miter lim="800000"/>
              <a:headEnd len="sm" w="sm" type="none"/>
              <a:tailEnd len="sm" w="sm" type="none"/>
            </a:ln>
          </p:spPr>
        </p:cxnSp>
        <p:sp>
          <p:nvSpPr>
            <p:cNvPr id="209" name="Google Shape;209;p10"/>
            <p:cNvSpPr/>
            <p:nvPr/>
          </p:nvSpPr>
          <p:spPr>
            <a:xfrm>
              <a:off x="0" y="4128515"/>
              <a:ext cx="6263640" cy="137617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0"/>
            <p:cNvSpPr txBox="1"/>
            <p:nvPr/>
          </p:nvSpPr>
          <p:spPr>
            <a:xfrm>
              <a:off x="0" y="4128515"/>
              <a:ext cx="6263640" cy="1376171"/>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rgbClr val="FF0000"/>
                </a:buClr>
                <a:buSzPts val="2100"/>
                <a:buFont typeface="Calibri"/>
                <a:buNone/>
              </a:pPr>
              <a:r>
                <a:rPr b="0" i="0" lang="en-US" sz="2100" u="none" cap="none" strike="noStrike">
                  <a:solidFill>
                    <a:srgbClr val="FF0000"/>
                  </a:solidFill>
                  <a:latin typeface="Calibri"/>
                  <a:ea typeface="Calibri"/>
                  <a:cs typeface="Calibri"/>
                  <a:sym typeface="Calibri"/>
                </a:rPr>
                <a:t>… So it is your job to analyze something interesting for your boss!!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Analyzing dependency between variables gender and education</a:t>
            </a:r>
            <a:endParaRPr/>
          </a:p>
        </p:txBody>
      </p:sp>
      <p:pic>
        <p:nvPicPr>
          <p:cNvPr id="216" name="Google Shape;216;p11"/>
          <p:cNvPicPr preferRelativeResize="0"/>
          <p:nvPr>
            <p:ph idx="1" type="body"/>
          </p:nvPr>
        </p:nvPicPr>
        <p:blipFill rotWithShape="1">
          <a:blip r:embed="rId3">
            <a:alphaModFix/>
          </a:blip>
          <a:srcRect b="0" l="0" r="0" t="0"/>
          <a:stretch/>
        </p:blipFill>
        <p:spPr>
          <a:xfrm>
            <a:off x="1198884" y="3107595"/>
            <a:ext cx="3057525" cy="1638300"/>
          </a:xfrm>
          <a:prstGeom prst="rect">
            <a:avLst/>
          </a:prstGeom>
          <a:noFill/>
          <a:ln>
            <a:noFill/>
          </a:ln>
        </p:spPr>
      </p:pic>
      <p:sp>
        <p:nvSpPr>
          <p:cNvPr id="217" name="Google Shape;217;p11"/>
          <p:cNvSpPr txBox="1"/>
          <p:nvPr/>
        </p:nvSpPr>
        <p:spPr>
          <a:xfrm>
            <a:off x="1120516" y="1698428"/>
            <a:ext cx="10523990" cy="64633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Note! This may not make much sense for the business we are dealing with here. But this is just for an example. Your job is to find meaningful dependencies from the data and report them to your boss/me</a:t>
            </a:r>
            <a:endParaRPr b="0" i="0" sz="1800" u="none" cap="none" strike="noStrike">
              <a:solidFill>
                <a:schemeClr val="dk1"/>
              </a:solidFill>
              <a:latin typeface="Calibri"/>
              <a:ea typeface="Calibri"/>
              <a:cs typeface="Calibri"/>
              <a:sym typeface="Calibri"/>
            </a:endParaRPr>
          </a:p>
        </p:txBody>
      </p:sp>
      <p:pic>
        <p:nvPicPr>
          <p:cNvPr id="218" name="Google Shape;218;p11"/>
          <p:cNvPicPr preferRelativeResize="0"/>
          <p:nvPr/>
        </p:nvPicPr>
        <p:blipFill rotWithShape="1">
          <a:blip r:embed="rId4">
            <a:alphaModFix/>
          </a:blip>
          <a:srcRect b="0" l="0" r="0" t="0"/>
          <a:stretch/>
        </p:blipFill>
        <p:spPr>
          <a:xfrm>
            <a:off x="1120517" y="2353418"/>
            <a:ext cx="9915525" cy="733425"/>
          </a:xfrm>
          <a:prstGeom prst="rect">
            <a:avLst/>
          </a:prstGeom>
          <a:noFill/>
          <a:ln>
            <a:noFill/>
          </a:ln>
        </p:spPr>
      </p:pic>
      <p:pic>
        <p:nvPicPr>
          <p:cNvPr id="219" name="Google Shape;219;p11"/>
          <p:cNvPicPr preferRelativeResize="0"/>
          <p:nvPr/>
        </p:nvPicPr>
        <p:blipFill rotWithShape="1">
          <a:blip r:embed="rId5">
            <a:alphaModFix/>
          </a:blip>
          <a:srcRect b="0" l="0" r="0" t="0"/>
          <a:stretch/>
        </p:blipFill>
        <p:spPr>
          <a:xfrm>
            <a:off x="1128906" y="4940093"/>
            <a:ext cx="10382250" cy="704850"/>
          </a:xfrm>
          <a:prstGeom prst="rect">
            <a:avLst/>
          </a:prstGeom>
          <a:noFill/>
          <a:ln>
            <a:noFill/>
          </a:ln>
        </p:spPr>
      </p:pic>
      <p:pic>
        <p:nvPicPr>
          <p:cNvPr id="220" name="Google Shape;220;p11"/>
          <p:cNvPicPr preferRelativeResize="0"/>
          <p:nvPr/>
        </p:nvPicPr>
        <p:blipFill rotWithShape="1">
          <a:blip r:embed="rId6">
            <a:alphaModFix/>
          </a:blip>
          <a:srcRect b="0" l="0" r="0" t="0"/>
          <a:stretch/>
        </p:blipFill>
        <p:spPr>
          <a:xfrm>
            <a:off x="1198884" y="5616448"/>
            <a:ext cx="7267575" cy="942975"/>
          </a:xfrm>
          <a:prstGeom prst="rect">
            <a:avLst/>
          </a:prstGeom>
          <a:noFill/>
          <a:ln>
            <a:noFill/>
          </a:ln>
        </p:spPr>
      </p:pic>
      <p:sp>
        <p:nvSpPr>
          <p:cNvPr id="221" name="Google Shape;221;p11"/>
          <p:cNvSpPr/>
          <p:nvPr/>
        </p:nvSpPr>
        <p:spPr>
          <a:xfrm>
            <a:off x="1128906" y="2367043"/>
            <a:ext cx="10515600" cy="2466214"/>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2" name="Google Shape;222;p11"/>
          <p:cNvSpPr/>
          <p:nvPr/>
        </p:nvSpPr>
        <p:spPr>
          <a:xfrm>
            <a:off x="1130304" y="4940093"/>
            <a:ext cx="10515600" cy="1689808"/>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6" name="Shape 226"/>
        <p:cNvGrpSpPr/>
        <p:nvPr/>
      </p:nvGrpSpPr>
      <p:grpSpPr>
        <a:xfrm>
          <a:off x="0" y="0"/>
          <a:ext cx="0" cy="0"/>
          <a:chOff x="0" y="0"/>
          <a:chExt cx="0" cy="0"/>
        </a:xfrm>
      </p:grpSpPr>
      <p:sp>
        <p:nvSpPr>
          <p:cNvPr id="227" name="Google Shape;227;p1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8" name="Google Shape;228;p12"/>
          <p:cNvSpPr txBox="1"/>
          <p:nvPr>
            <p:ph type="title"/>
          </p:nvPr>
        </p:nvSpPr>
        <p:spPr>
          <a:xfrm>
            <a:off x="643467" y="321734"/>
            <a:ext cx="4970877" cy="113573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alibri"/>
              <a:buNone/>
            </a:pPr>
            <a:r>
              <a:rPr lang="en-US" sz="2800"/>
              <a:t>Analyzing dependency between variables gender and education</a:t>
            </a:r>
            <a:endParaRPr sz="2800"/>
          </a:p>
        </p:txBody>
      </p:sp>
      <p:sp>
        <p:nvSpPr>
          <p:cNvPr id="229" name="Google Shape;229;p12"/>
          <p:cNvSpPr txBox="1"/>
          <p:nvPr>
            <p:ph idx="1" type="body"/>
          </p:nvPr>
        </p:nvSpPr>
        <p:spPr>
          <a:xfrm>
            <a:off x="643468" y="1782981"/>
            <a:ext cx="4970877" cy="439398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Here we analyze, whether there is dependency between variables gender and education.</a:t>
            </a:r>
            <a:endParaRPr/>
          </a:p>
          <a:p>
            <a:pPr indent="-228600" lvl="0" marL="228600" rtl="0" algn="l">
              <a:lnSpc>
                <a:spcPct val="90000"/>
              </a:lnSpc>
              <a:spcBef>
                <a:spcPts val="1000"/>
              </a:spcBef>
              <a:spcAft>
                <a:spcPts val="0"/>
              </a:spcAft>
              <a:buClr>
                <a:schemeClr val="dk1"/>
              </a:buClr>
              <a:buSzPts val="2000"/>
              <a:buChar char="•"/>
            </a:pPr>
            <a:r>
              <a:rPr lang="en-US" sz="2000"/>
              <a:t>Out of all women, 14.3% of them has their highest education level as primary school. This is bit less than for men. </a:t>
            </a:r>
            <a:endParaRPr/>
          </a:p>
          <a:p>
            <a:pPr indent="-228600" lvl="0" marL="228600" rtl="0" algn="l">
              <a:lnSpc>
                <a:spcPct val="90000"/>
              </a:lnSpc>
              <a:spcBef>
                <a:spcPts val="1000"/>
              </a:spcBef>
              <a:spcAft>
                <a:spcPts val="0"/>
              </a:spcAft>
              <a:buClr>
                <a:schemeClr val="dk1"/>
              </a:buClr>
              <a:buSzPts val="2000"/>
              <a:buChar char="•"/>
            </a:pPr>
            <a:r>
              <a:rPr lang="en-US" sz="2000"/>
              <a:t>The respective values </a:t>
            </a:r>
            <a:r>
              <a:rPr lang="en-US" sz="2000">
                <a:solidFill>
                  <a:srgbClr val="FF0000"/>
                </a:solidFill>
              </a:rPr>
              <a:t>seem</a:t>
            </a:r>
            <a:r>
              <a:rPr lang="en-US" sz="2000"/>
              <a:t> to be rather close in all the educational levels and we </a:t>
            </a:r>
            <a:r>
              <a:rPr lang="en-US" sz="2000">
                <a:solidFill>
                  <a:srgbClr val="FF0000"/>
                </a:solidFill>
              </a:rPr>
              <a:t>suspect</a:t>
            </a:r>
            <a:r>
              <a:rPr lang="en-US" sz="2000"/>
              <a:t> there is no dependency between the variables</a:t>
            </a:r>
            <a:endParaRPr/>
          </a:p>
          <a:p>
            <a:pPr indent="-228600" lvl="0" marL="228600" rtl="0" algn="l">
              <a:lnSpc>
                <a:spcPct val="90000"/>
              </a:lnSpc>
              <a:spcBef>
                <a:spcPts val="1000"/>
              </a:spcBef>
              <a:spcAft>
                <a:spcPts val="0"/>
              </a:spcAft>
              <a:buClr>
                <a:schemeClr val="dk1"/>
              </a:buClr>
              <a:buSzPts val="2000"/>
              <a:buChar char="•"/>
            </a:pPr>
            <a:r>
              <a:rPr lang="en-US" sz="2000"/>
              <a:t>This was </a:t>
            </a:r>
            <a:r>
              <a:rPr lang="en-US" sz="2000">
                <a:solidFill>
                  <a:srgbClr val="FF0000"/>
                </a:solidFill>
              </a:rPr>
              <a:t>tested</a:t>
            </a:r>
            <a:r>
              <a:rPr lang="en-US" sz="2000"/>
              <a:t> with Chi2 test which gave us the p-value of 0,85 which tell us that there is no dependency between the two variables.</a:t>
            </a:r>
            <a:endParaRPr/>
          </a:p>
          <a:p>
            <a:pPr indent="-101600" lvl="0" marL="228600" rtl="0" algn="l">
              <a:lnSpc>
                <a:spcPct val="90000"/>
              </a:lnSpc>
              <a:spcBef>
                <a:spcPts val="1000"/>
              </a:spcBef>
              <a:spcAft>
                <a:spcPts val="0"/>
              </a:spcAft>
              <a:buClr>
                <a:schemeClr val="dk1"/>
              </a:buClr>
              <a:buSzPts val="2000"/>
              <a:buNone/>
            </a:pPr>
            <a:r>
              <a:t/>
            </a:r>
            <a:endParaRPr sz="2000"/>
          </a:p>
        </p:txBody>
      </p:sp>
      <p:sp>
        <p:nvSpPr>
          <p:cNvPr id="230" name="Google Shape;230;p12"/>
          <p:cNvSpPr/>
          <p:nvPr/>
        </p:nvSpPr>
        <p:spPr>
          <a:xfrm rot="5400000">
            <a:off x="-501760" y="5103257"/>
            <a:ext cx="2017580" cy="1014060"/>
          </a:xfrm>
          <a:prstGeom prst="triangle">
            <a:avLst>
              <a:gd fmla="val 50000" name="adj"/>
            </a:avLst>
          </a:prstGeom>
          <a:solidFill>
            <a:schemeClr val="accent1">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1" name="Google Shape;231;p12"/>
          <p:cNvSpPr/>
          <p:nvPr/>
        </p:nvSpPr>
        <p:spPr>
          <a:xfrm rot="2700000">
            <a:off x="427916" y="5728708"/>
            <a:ext cx="485578" cy="485578"/>
          </a:xfrm>
          <a:prstGeom prst="rect">
            <a:avLst/>
          </a:prstGeom>
          <a:solidFill>
            <a:schemeClr val="accent1">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32" name="Google Shape;232;p12"/>
          <p:cNvPicPr preferRelativeResize="0"/>
          <p:nvPr/>
        </p:nvPicPr>
        <p:blipFill rotWithShape="1">
          <a:blip r:embed="rId3">
            <a:alphaModFix/>
          </a:blip>
          <a:srcRect b="0" l="0" r="0" t="0"/>
          <a:stretch/>
        </p:blipFill>
        <p:spPr>
          <a:xfrm>
            <a:off x="6257813" y="2011548"/>
            <a:ext cx="5290720" cy="2834902"/>
          </a:xfrm>
          <a:prstGeom prst="rect">
            <a:avLst/>
          </a:prstGeom>
          <a:noFill/>
          <a:ln>
            <a:noFill/>
          </a:ln>
        </p:spPr>
      </p:pic>
      <p:grpSp>
        <p:nvGrpSpPr>
          <p:cNvPr id="233" name="Google Shape;233;p12"/>
          <p:cNvGrpSpPr/>
          <p:nvPr/>
        </p:nvGrpSpPr>
        <p:grpSpPr>
          <a:xfrm>
            <a:off x="11094719" y="0"/>
            <a:ext cx="1097281" cy="1097280"/>
            <a:chOff x="11094719" y="0"/>
            <a:chExt cx="1097281" cy="1097280"/>
          </a:xfrm>
        </p:grpSpPr>
        <p:sp>
          <p:nvSpPr>
            <p:cNvPr id="234" name="Google Shape;234;p12"/>
            <p:cNvSpPr/>
            <p:nvPr/>
          </p:nvSpPr>
          <p:spPr>
            <a:xfrm rot="-5400000">
              <a:off x="11094720" y="0"/>
              <a:ext cx="1097280" cy="1097280"/>
            </a:xfrm>
            <a:prstGeom prst="triangle">
              <a:avLst>
                <a:gd fmla="val 100000" name="adj"/>
              </a:avLst>
            </a:prstGeom>
            <a:solidFill>
              <a:schemeClr val="accent4">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5" name="Google Shape;235;p12"/>
            <p:cNvSpPr/>
            <p:nvPr/>
          </p:nvSpPr>
          <p:spPr>
            <a:xfrm rot="2700000">
              <a:off x="11189552" y="127618"/>
              <a:ext cx="457894" cy="457894"/>
            </a:xfrm>
            <a:prstGeom prst="rect">
              <a:avLst/>
            </a:prstGeom>
            <a:solidFill>
              <a:schemeClr val="accent4">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36" name="Google Shape;236;p12"/>
          <p:cNvSpPr txBox="1"/>
          <p:nvPr/>
        </p:nvSpPr>
        <p:spPr>
          <a:xfrm rot="-935871">
            <a:off x="7407479" y="476927"/>
            <a:ext cx="3154260" cy="138499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FF0000"/>
              </a:buClr>
              <a:buSzPts val="1200"/>
              <a:buFont typeface="Arial"/>
              <a:buChar char="•"/>
            </a:pPr>
            <a:r>
              <a:rPr b="0" i="0" lang="en-US" sz="1200" u="none" cap="none" strike="noStrike">
                <a:solidFill>
                  <a:srgbClr val="FF0000"/>
                </a:solidFill>
                <a:latin typeface="Calibri"/>
                <a:ea typeface="Calibri"/>
                <a:cs typeface="Calibri"/>
                <a:sym typeface="Calibri"/>
              </a:rPr>
              <a:t>Note! This slide is just for illustration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FF0000"/>
              </a:buClr>
              <a:buSzPts val="1200"/>
              <a:buFont typeface="Arial"/>
              <a:buChar char="•"/>
            </a:pPr>
            <a:r>
              <a:rPr b="0" i="0" lang="en-US" sz="1200" u="none" cap="none" strike="noStrike">
                <a:solidFill>
                  <a:srgbClr val="FF0000"/>
                </a:solidFill>
                <a:latin typeface="Calibri"/>
                <a:ea typeface="Calibri"/>
                <a:cs typeface="Calibri"/>
                <a:sym typeface="Calibri"/>
              </a:rPr>
              <a:t>Actually we did not find anathing interesting here that should be actually reported!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FF0000"/>
              </a:buClr>
              <a:buSzPts val="1200"/>
              <a:buFont typeface="Arial"/>
              <a:buChar char="•"/>
            </a:pPr>
            <a:r>
              <a:rPr b="0" i="0" lang="en-US" sz="1200" u="none" cap="none" strike="noStrike">
                <a:solidFill>
                  <a:srgbClr val="FF0000"/>
                </a:solidFill>
                <a:latin typeface="Calibri"/>
                <a:ea typeface="Calibri"/>
                <a:cs typeface="Calibri"/>
                <a:sym typeface="Calibri"/>
              </a:rPr>
              <a:t>It is your job to find something meaningful for the business with the dataset used for the Project Work!!</a:t>
            </a:r>
            <a:endParaRPr b="0" i="0" sz="1200" u="none" cap="none" strike="noStrike">
              <a:solidFill>
                <a:srgbClr val="FF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0" name="Shape 240"/>
        <p:cNvGrpSpPr/>
        <p:nvPr/>
      </p:nvGrpSpPr>
      <p:grpSpPr>
        <a:xfrm>
          <a:off x="0" y="0"/>
          <a:ext cx="0" cy="0"/>
          <a:chOff x="0" y="0"/>
          <a:chExt cx="0" cy="0"/>
        </a:xfrm>
      </p:grpSpPr>
      <p:sp>
        <p:nvSpPr>
          <p:cNvPr id="241" name="Google Shape;241;p1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2" name="Google Shape;242;p13"/>
          <p:cNvSpPr txBox="1"/>
          <p:nvPr>
            <p:ph type="title"/>
          </p:nvPr>
        </p:nvSpPr>
        <p:spPr>
          <a:xfrm>
            <a:off x="643467" y="321734"/>
            <a:ext cx="10905066" cy="113573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t>Analyzing dependency between age_groups and sat_price_level</a:t>
            </a:r>
            <a:endParaRPr sz="3600"/>
          </a:p>
        </p:txBody>
      </p:sp>
      <p:sp>
        <p:nvSpPr>
          <p:cNvPr id="243" name="Google Shape;243;p13"/>
          <p:cNvSpPr txBox="1"/>
          <p:nvPr>
            <p:ph idx="1" type="body"/>
          </p:nvPr>
        </p:nvSpPr>
        <p:spPr>
          <a:xfrm>
            <a:off x="643469" y="1782981"/>
            <a:ext cx="4008384" cy="4393982"/>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000"/>
              <a:buChar char="•"/>
            </a:pPr>
            <a:r>
              <a:rPr lang="en-US" sz="2000"/>
              <a:t>The figure here shows the the age classes that we used in our analysis – the counts are shown also</a:t>
            </a:r>
            <a:endParaRPr/>
          </a:p>
          <a:p>
            <a:pPr indent="-228600" lvl="0" marL="228600" rtl="0" algn="l">
              <a:lnSpc>
                <a:spcPct val="90000"/>
              </a:lnSpc>
              <a:spcBef>
                <a:spcPts val="1000"/>
              </a:spcBef>
              <a:spcAft>
                <a:spcPts val="0"/>
              </a:spcAft>
              <a:buClr>
                <a:schemeClr val="dk1"/>
              </a:buClr>
              <a:buSzPts val="2000"/>
              <a:buChar char="•"/>
            </a:pPr>
            <a:r>
              <a:rPr lang="en-US" sz="2000"/>
              <a:t>The crosstabulation is given in the table on the right</a:t>
            </a:r>
            <a:endParaRPr/>
          </a:p>
          <a:p>
            <a:pPr indent="-228600" lvl="0" marL="228600" rtl="0" algn="l">
              <a:lnSpc>
                <a:spcPct val="90000"/>
              </a:lnSpc>
              <a:spcBef>
                <a:spcPts val="1000"/>
              </a:spcBef>
              <a:spcAft>
                <a:spcPts val="0"/>
              </a:spcAft>
              <a:buClr>
                <a:schemeClr val="dk1"/>
              </a:buClr>
              <a:buSzPts val="2000"/>
              <a:buChar char="•"/>
            </a:pPr>
            <a:r>
              <a:rPr lang="en-US" sz="2000"/>
              <a:t>Based on the cross tabulation it </a:t>
            </a:r>
            <a:r>
              <a:rPr lang="en-US" sz="2000">
                <a:solidFill>
                  <a:srgbClr val="FF0000"/>
                </a:solidFill>
              </a:rPr>
              <a:t>seems</a:t>
            </a:r>
            <a:r>
              <a:rPr lang="en-US" sz="2000"/>
              <a:t> that for example that our youngest customers and mostly unsatisfied or even very unsatified with our price levels.</a:t>
            </a:r>
            <a:endParaRPr/>
          </a:p>
          <a:p>
            <a:pPr indent="-228600" lvl="0" marL="228600" rtl="0" algn="l">
              <a:lnSpc>
                <a:spcPct val="90000"/>
              </a:lnSpc>
              <a:spcBef>
                <a:spcPts val="1000"/>
              </a:spcBef>
              <a:spcAft>
                <a:spcPts val="0"/>
              </a:spcAft>
              <a:buClr>
                <a:schemeClr val="dk1"/>
              </a:buClr>
              <a:buSzPts val="2000"/>
              <a:buChar char="•"/>
            </a:pPr>
            <a:r>
              <a:rPr lang="en-US" sz="2000"/>
              <a:t>…</a:t>
            </a:r>
            <a:endParaRPr/>
          </a:p>
          <a:p>
            <a:pPr indent="-228600" lvl="0" marL="228600" rtl="0" algn="l">
              <a:lnSpc>
                <a:spcPct val="90000"/>
              </a:lnSpc>
              <a:spcBef>
                <a:spcPts val="1000"/>
              </a:spcBef>
              <a:spcAft>
                <a:spcPts val="0"/>
              </a:spcAft>
              <a:buClr>
                <a:schemeClr val="dk1"/>
              </a:buClr>
              <a:buSzPts val="2000"/>
              <a:buChar char="•"/>
            </a:pPr>
            <a:r>
              <a:rPr lang="en-US" sz="2000"/>
              <a:t>We suggest that we make a campaign for our youngest customers of some kind…</a:t>
            </a:r>
            <a:endParaRPr sz="2000"/>
          </a:p>
        </p:txBody>
      </p:sp>
      <p:grpSp>
        <p:nvGrpSpPr>
          <p:cNvPr id="244" name="Google Shape;244;p13"/>
          <p:cNvGrpSpPr/>
          <p:nvPr/>
        </p:nvGrpSpPr>
        <p:grpSpPr>
          <a:xfrm>
            <a:off x="11219290" y="1"/>
            <a:ext cx="972709" cy="1935307"/>
            <a:chOff x="10918968" y="713127"/>
            <a:chExt cx="1273032" cy="2532832"/>
          </a:xfrm>
        </p:grpSpPr>
        <p:sp>
          <p:nvSpPr>
            <p:cNvPr id="245" name="Google Shape;245;p13"/>
            <p:cNvSpPr/>
            <p:nvPr/>
          </p:nvSpPr>
          <p:spPr>
            <a:xfrm rot="2700000">
              <a:off x="11052629" y="2120024"/>
              <a:ext cx="645368" cy="645368"/>
            </a:xfrm>
            <a:prstGeom prst="rect">
              <a:avLst/>
            </a:prstGeom>
            <a:solidFill>
              <a:schemeClr val="accent4">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6" name="Google Shape;246;p13"/>
            <p:cNvSpPr/>
            <p:nvPr/>
          </p:nvSpPr>
          <p:spPr>
            <a:xfrm rot="-5400000">
              <a:off x="10289068" y="1343027"/>
              <a:ext cx="2532832" cy="1273032"/>
            </a:xfrm>
            <a:prstGeom prst="triangle">
              <a:avLst>
                <a:gd fmla="val 50000" name="adj"/>
              </a:avLst>
            </a:prstGeom>
            <a:solidFill>
              <a:schemeClr val="accent4">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247" name="Google Shape;247;p13"/>
          <p:cNvPicPr preferRelativeResize="0"/>
          <p:nvPr/>
        </p:nvPicPr>
        <p:blipFill rotWithShape="1">
          <a:blip r:embed="rId3">
            <a:alphaModFix/>
          </a:blip>
          <a:srcRect b="0" l="0" r="0" t="0"/>
          <a:stretch/>
        </p:blipFill>
        <p:spPr>
          <a:xfrm>
            <a:off x="6962229" y="1782982"/>
            <a:ext cx="2919390" cy="2116558"/>
          </a:xfrm>
          <a:prstGeom prst="rect">
            <a:avLst/>
          </a:prstGeom>
          <a:noFill/>
          <a:ln>
            <a:noFill/>
          </a:ln>
        </p:spPr>
      </p:pic>
      <p:grpSp>
        <p:nvGrpSpPr>
          <p:cNvPr id="248" name="Google Shape;248;p13"/>
          <p:cNvGrpSpPr/>
          <p:nvPr/>
        </p:nvGrpSpPr>
        <p:grpSpPr>
          <a:xfrm>
            <a:off x="0" y="4601497"/>
            <a:ext cx="1014060" cy="2017580"/>
            <a:chOff x="0" y="4601497"/>
            <a:chExt cx="1014060" cy="2017580"/>
          </a:xfrm>
        </p:grpSpPr>
        <p:sp>
          <p:nvSpPr>
            <p:cNvPr id="249" name="Google Shape;249;p13"/>
            <p:cNvSpPr/>
            <p:nvPr/>
          </p:nvSpPr>
          <p:spPr>
            <a:xfrm rot="5400000">
              <a:off x="-501760" y="5103257"/>
              <a:ext cx="2017580" cy="1014060"/>
            </a:xfrm>
            <a:prstGeom prst="triangle">
              <a:avLst>
                <a:gd fmla="val 50000" name="adj"/>
              </a:avLst>
            </a:prstGeom>
            <a:solidFill>
              <a:schemeClr val="accent1">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0" name="Google Shape;250;p13"/>
            <p:cNvSpPr/>
            <p:nvPr/>
          </p:nvSpPr>
          <p:spPr>
            <a:xfrm rot="2700000">
              <a:off x="427916" y="5728708"/>
              <a:ext cx="485578" cy="485578"/>
            </a:xfrm>
            <a:prstGeom prst="rect">
              <a:avLst/>
            </a:prstGeom>
            <a:solidFill>
              <a:schemeClr val="accent1">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251" name="Google Shape;251;p13"/>
          <p:cNvPicPr preferRelativeResize="0"/>
          <p:nvPr/>
        </p:nvPicPr>
        <p:blipFill rotWithShape="1">
          <a:blip r:embed="rId4">
            <a:alphaModFix/>
          </a:blip>
          <a:srcRect b="0" l="0" r="0" t="0"/>
          <a:stretch/>
        </p:blipFill>
        <p:spPr>
          <a:xfrm>
            <a:off x="5757790" y="4060406"/>
            <a:ext cx="5328272" cy="208446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5" name="Shape 255"/>
        <p:cNvGrpSpPr/>
        <p:nvPr/>
      </p:nvGrpSpPr>
      <p:grpSpPr>
        <a:xfrm>
          <a:off x="0" y="0"/>
          <a:ext cx="0" cy="0"/>
          <a:chOff x="0" y="0"/>
          <a:chExt cx="0" cy="0"/>
        </a:xfrm>
      </p:grpSpPr>
      <p:sp>
        <p:nvSpPr>
          <p:cNvPr id="256" name="Google Shape;256;p1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7" name="Google Shape;257;p14"/>
          <p:cNvSpPr txBox="1"/>
          <p:nvPr>
            <p:ph type="title"/>
          </p:nvPr>
        </p:nvSpPr>
        <p:spPr>
          <a:xfrm>
            <a:off x="643467" y="321734"/>
            <a:ext cx="10905066" cy="113573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t>Analyzing dependency between age_groups and sat_price_level</a:t>
            </a:r>
            <a:endParaRPr sz="3600"/>
          </a:p>
        </p:txBody>
      </p:sp>
      <p:sp>
        <p:nvSpPr>
          <p:cNvPr id="258" name="Google Shape;258;p14"/>
          <p:cNvSpPr txBox="1"/>
          <p:nvPr>
            <p:ph idx="1" type="body"/>
          </p:nvPr>
        </p:nvSpPr>
        <p:spPr>
          <a:xfrm>
            <a:off x="643469" y="1782981"/>
            <a:ext cx="4008384" cy="439398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We made a proper test for these variables. The p-value for the test was ~0.0036 so the level of dependency between the two variables is statistically significant.</a:t>
            </a:r>
            <a:endParaRPr/>
          </a:p>
          <a:p>
            <a:pPr indent="-228600" lvl="0" marL="228600" rtl="0" algn="l">
              <a:lnSpc>
                <a:spcPct val="90000"/>
              </a:lnSpc>
              <a:spcBef>
                <a:spcPts val="1000"/>
              </a:spcBef>
              <a:spcAft>
                <a:spcPts val="0"/>
              </a:spcAft>
              <a:buClr>
                <a:schemeClr val="dk1"/>
              </a:buClr>
              <a:buSzPts val="2000"/>
              <a:buChar char="•"/>
            </a:pPr>
            <a:r>
              <a:rPr lang="en-US" sz="2000"/>
              <a:t>By examining the data we can see that, for example, our youngest customers are the most unsatisfied age group what comes to the price level. </a:t>
            </a:r>
            <a:endParaRPr/>
          </a:p>
          <a:p>
            <a:pPr indent="-228600" lvl="0" marL="228600" rtl="0" algn="l">
              <a:lnSpc>
                <a:spcPct val="90000"/>
              </a:lnSpc>
              <a:spcBef>
                <a:spcPts val="1000"/>
              </a:spcBef>
              <a:spcAft>
                <a:spcPts val="0"/>
              </a:spcAft>
              <a:buClr>
                <a:schemeClr val="dk1"/>
              </a:buClr>
              <a:buSzPts val="2000"/>
              <a:buChar char="•"/>
            </a:pPr>
            <a:r>
              <a:rPr lang="en-US" sz="2000"/>
              <a:t>…</a:t>
            </a:r>
            <a:endParaRPr/>
          </a:p>
          <a:p>
            <a:pPr indent="-228600" lvl="0" marL="228600" rtl="0" algn="l">
              <a:lnSpc>
                <a:spcPct val="90000"/>
              </a:lnSpc>
              <a:spcBef>
                <a:spcPts val="1000"/>
              </a:spcBef>
              <a:spcAft>
                <a:spcPts val="0"/>
              </a:spcAft>
              <a:buClr>
                <a:schemeClr val="dk1"/>
              </a:buClr>
              <a:buSzPts val="2000"/>
              <a:buChar char="•"/>
            </a:pPr>
            <a:r>
              <a:rPr lang="en-US" sz="2000"/>
              <a:t>…</a:t>
            </a:r>
            <a:endParaRPr/>
          </a:p>
        </p:txBody>
      </p:sp>
      <p:grpSp>
        <p:nvGrpSpPr>
          <p:cNvPr id="259" name="Google Shape;259;p14"/>
          <p:cNvGrpSpPr/>
          <p:nvPr/>
        </p:nvGrpSpPr>
        <p:grpSpPr>
          <a:xfrm>
            <a:off x="11219290" y="1"/>
            <a:ext cx="972709" cy="1935307"/>
            <a:chOff x="10918968" y="713127"/>
            <a:chExt cx="1273032" cy="2532832"/>
          </a:xfrm>
        </p:grpSpPr>
        <p:sp>
          <p:nvSpPr>
            <p:cNvPr id="260" name="Google Shape;260;p14"/>
            <p:cNvSpPr/>
            <p:nvPr/>
          </p:nvSpPr>
          <p:spPr>
            <a:xfrm rot="2700000">
              <a:off x="11052629" y="2120024"/>
              <a:ext cx="645368" cy="645368"/>
            </a:xfrm>
            <a:prstGeom prst="rect">
              <a:avLst/>
            </a:prstGeom>
            <a:solidFill>
              <a:schemeClr val="accent4">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1" name="Google Shape;261;p14"/>
            <p:cNvSpPr/>
            <p:nvPr/>
          </p:nvSpPr>
          <p:spPr>
            <a:xfrm rot="-5400000">
              <a:off x="10289068" y="1343027"/>
              <a:ext cx="2532832" cy="1273032"/>
            </a:xfrm>
            <a:prstGeom prst="triangle">
              <a:avLst>
                <a:gd fmla="val 50000" name="adj"/>
              </a:avLst>
            </a:prstGeom>
            <a:solidFill>
              <a:schemeClr val="accent4">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262" name="Google Shape;262;p14"/>
          <p:cNvGrpSpPr/>
          <p:nvPr/>
        </p:nvGrpSpPr>
        <p:grpSpPr>
          <a:xfrm>
            <a:off x="0" y="4601497"/>
            <a:ext cx="1014060" cy="2017580"/>
            <a:chOff x="0" y="4601497"/>
            <a:chExt cx="1014060" cy="2017580"/>
          </a:xfrm>
        </p:grpSpPr>
        <p:sp>
          <p:nvSpPr>
            <p:cNvPr id="263" name="Google Shape;263;p14"/>
            <p:cNvSpPr/>
            <p:nvPr/>
          </p:nvSpPr>
          <p:spPr>
            <a:xfrm rot="5400000">
              <a:off x="-501760" y="5103257"/>
              <a:ext cx="2017580" cy="1014060"/>
            </a:xfrm>
            <a:prstGeom prst="triangle">
              <a:avLst>
                <a:gd fmla="val 50000" name="adj"/>
              </a:avLst>
            </a:prstGeom>
            <a:solidFill>
              <a:schemeClr val="accent1">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4" name="Google Shape;264;p14"/>
            <p:cNvSpPr/>
            <p:nvPr/>
          </p:nvSpPr>
          <p:spPr>
            <a:xfrm rot="2700000">
              <a:off x="427916" y="5728708"/>
              <a:ext cx="485578" cy="485578"/>
            </a:xfrm>
            <a:prstGeom prst="rect">
              <a:avLst/>
            </a:prstGeom>
            <a:solidFill>
              <a:schemeClr val="accent1">
                <a:alpha val="2902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265" name="Google Shape;265;p14"/>
          <p:cNvPicPr preferRelativeResize="0"/>
          <p:nvPr/>
        </p:nvPicPr>
        <p:blipFill rotWithShape="1">
          <a:blip r:embed="rId3">
            <a:alphaModFix/>
          </a:blip>
          <a:srcRect b="0" l="0" r="0" t="0"/>
          <a:stretch/>
        </p:blipFill>
        <p:spPr>
          <a:xfrm>
            <a:off x="7371769" y="1786471"/>
            <a:ext cx="4333875" cy="2486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Continue with your other findings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When you are done with analysing and you have done this powerpoint accordingly, make the Project work video where you discuss this PowerPoint and especially your findings clearly.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Remember to see the Project Work guidelines fully for other things to be discussed on the video also!!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te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2022-06-01T09:20:14Z</dcterms:created>
  <dc:creator>Tommi Lahti</dc:creator>
</cp:coreProperties>
</file>